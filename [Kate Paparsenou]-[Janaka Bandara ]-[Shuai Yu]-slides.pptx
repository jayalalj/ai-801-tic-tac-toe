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embeddedFontLst>
    <p:embeddedFont>
      <p:font typeface="Libre Franklin" pitchFamily="2" charset="0"/>
      <p:regular r:id="rId17"/>
      <p:bold r:id="rId18"/>
      <p:italic r:id="rId19"/>
      <p:boldItalic r:id="rId20"/>
    </p:embeddedFont>
    <p:embeddedFont>
      <p:font typeface="Libre Franklin Medium" pitchFamily="2" charset="0"/>
      <p:regular r:id="rId21"/>
      <p:bold r:id="rId22"/>
      <p:italic r:id="rId23"/>
      <p:boldItalic r:id="rId2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7" roundtripDataSignature="AMtx7mhn1VWSYHsjsU/x0emxXuPWE66+J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747" autoAdjust="0"/>
  </p:normalViewPr>
  <p:slideViewPr>
    <p:cSldViewPr snapToGrid="0">
      <p:cViewPr varScale="1">
        <p:scale>
          <a:sx n="76" d="100"/>
          <a:sy n="76" d="100"/>
        </p:scale>
        <p:origin x="687" y="39"/>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4.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3.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
        <p:cNvGrpSpPr/>
        <p:nvPr/>
      </p:nvGrpSpPr>
      <p:grpSpPr>
        <a:xfrm>
          <a:off x="0" y="0"/>
          <a:ext cx="0" cy="0"/>
          <a:chOff x="0" y="0"/>
          <a:chExt cx="0" cy="0"/>
        </a:xfrm>
      </p:grpSpPr>
      <p:sp>
        <p:nvSpPr>
          <p:cNvPr id="18" name="Google Shape;18;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 name="Google Shape;19;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
        <p:cNvGrpSpPr/>
        <p:nvPr/>
      </p:nvGrpSpPr>
      <p:grpSpPr>
        <a:xfrm>
          <a:off x="0" y="0"/>
          <a:ext cx="0" cy="0"/>
          <a:chOff x="0" y="0"/>
          <a:chExt cx="0" cy="0"/>
        </a:xfrm>
      </p:grpSpPr>
      <p:sp>
        <p:nvSpPr>
          <p:cNvPr id="26" name="Google Shape;26;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7" name="Google Shape;2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Google Shape;36;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7" name="Google Shape;3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44" name="Google Shape;4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1" name="Google Shape;51;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8" name="Google Shape;5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6" name="Google Shape;6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2" name="Google Shape;72;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2860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1" name="Google Shape;81;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8" name="Google Shape;88;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7" name="Google Shape;97;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6" name="Google Shape;106;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
        <p:cNvGrpSpPr/>
        <p:nvPr/>
      </p:nvGrpSpPr>
      <p:grpSpPr>
        <a:xfrm>
          <a:off x="0" y="0"/>
          <a:ext cx="0" cy="0"/>
          <a:chOff x="0" y="0"/>
          <a:chExt cx="0" cy="0"/>
        </a:xfrm>
      </p:grpSpPr>
      <p:sp>
        <p:nvSpPr>
          <p:cNvPr id="121" name="Google Shape;121;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2" name="Google Shape;122;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7"/>
        <p:cNvGrpSpPr/>
        <p:nvPr/>
      </p:nvGrpSpPr>
      <p:grpSpPr>
        <a:xfrm>
          <a:off x="0" y="0"/>
          <a:ext cx="0" cy="0"/>
          <a:chOff x="0" y="0"/>
          <a:chExt cx="0" cy="0"/>
        </a:xfrm>
      </p:grpSpPr>
      <p:pic>
        <p:nvPicPr>
          <p:cNvPr id="8" name="Google Shape;8;p1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9" name="Google Shape;9;p12"/>
          <p:cNvSpPr txBox="1">
            <a:spLocks noGrp="1"/>
          </p:cNvSpPr>
          <p:nvPr>
            <p:ph type="subTitle" idx="1"/>
          </p:nvPr>
        </p:nvSpPr>
        <p:spPr>
          <a:xfrm>
            <a:off x="1524000" y="2690571"/>
            <a:ext cx="9144000" cy="66885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1000"/>
              </a:spcBef>
              <a:spcAft>
                <a:spcPts val="0"/>
              </a:spcAft>
              <a:buClr>
                <a:schemeClr val="dk1"/>
              </a:buClr>
              <a:buSzPts val="2400"/>
              <a:buFont typeface="Arial"/>
              <a:buNone/>
              <a:defRPr sz="2400" b="0" i="0" u="none" strike="noStrike" cap="none">
                <a:solidFill>
                  <a:schemeClr val="dk1"/>
                </a:solidFill>
                <a:latin typeface="Libre Franklin"/>
                <a:ea typeface="Libre Franklin"/>
                <a:cs typeface="Libre Franklin"/>
                <a:sym typeface="Libre Franklin"/>
              </a:defRPr>
            </a:lvl1pPr>
            <a:lvl2pPr marR="0" lvl="1" algn="ctr" rtl="0">
              <a:lnSpc>
                <a:spcPct val="90000"/>
              </a:lnSpc>
              <a:spcBef>
                <a:spcPts val="500"/>
              </a:spcBef>
              <a:spcAft>
                <a:spcPts val="0"/>
              </a:spcAft>
              <a:buClr>
                <a:schemeClr val="dk1"/>
              </a:buClr>
              <a:buSzPts val="2000"/>
              <a:buFont typeface="Arial"/>
              <a:buNone/>
              <a:defRPr sz="2000" b="0" i="0" u="none" strike="noStrike" cap="none">
                <a:solidFill>
                  <a:schemeClr val="dk1"/>
                </a:solidFill>
                <a:latin typeface="Calibri"/>
                <a:ea typeface="Calibri"/>
                <a:cs typeface="Calibri"/>
                <a:sym typeface="Calibri"/>
              </a:defRPr>
            </a:lvl2pPr>
            <a:lvl3pPr marR="0" lvl="2" algn="ctr" rtl="0">
              <a:lnSpc>
                <a:spcPct val="90000"/>
              </a:lnSpc>
              <a:spcBef>
                <a:spcPts val="50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4pPr>
            <a:lvl5pPr marR="0" lvl="4"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5pPr>
            <a:lvl6pPr marR="0" lvl="5"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6pPr>
            <a:lvl7pPr marR="0" lvl="6"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7pPr>
            <a:lvl8pPr marR="0" lvl="7"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8pPr>
            <a:lvl9pPr marR="0" lvl="8" algn="ctr" rtl="0">
              <a:lnSpc>
                <a:spcPct val="90000"/>
              </a:lnSpc>
              <a:spcBef>
                <a:spcPts val="500"/>
              </a:spcBef>
              <a:spcAft>
                <a:spcPts val="0"/>
              </a:spcAft>
              <a:buClr>
                <a:schemeClr val="dk1"/>
              </a:buClr>
              <a:buSzPts val="1600"/>
              <a:buFont typeface="Arial"/>
              <a:buNone/>
              <a:defRPr sz="1600" b="0" i="0" u="none" strike="noStrike" cap="none">
                <a:solidFill>
                  <a:schemeClr val="dk1"/>
                </a:solidFill>
                <a:latin typeface="Calibri"/>
                <a:ea typeface="Calibri"/>
                <a:cs typeface="Calibri"/>
                <a:sym typeface="Calibri"/>
              </a:defRPr>
            </a:lvl9pPr>
          </a:lstStyle>
          <a:p>
            <a:endParaRPr/>
          </a:p>
        </p:txBody>
      </p:sp>
      <p:sp>
        <p:nvSpPr>
          <p:cNvPr id="10" name="Google Shape;10;p12"/>
          <p:cNvSpPr txBox="1">
            <a:spLocks noGrp="1"/>
          </p:cNvSpPr>
          <p:nvPr>
            <p:ph type="title"/>
          </p:nvPr>
        </p:nvSpPr>
        <p:spPr>
          <a:xfrm>
            <a:off x="1524000" y="1113184"/>
            <a:ext cx="9144000" cy="1507606"/>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rgbClr val="234078"/>
              </a:buClr>
              <a:buSzPts val="4400"/>
              <a:buFont typeface="Libre Franklin Medium"/>
              <a:buNone/>
              <a:defRPr sz="4400" b="0" i="0" u="none" strike="noStrike" cap="none">
                <a:solidFill>
                  <a:srgbClr val="234078"/>
                </a:solidFill>
                <a:latin typeface="Libre Franklin Medium"/>
                <a:ea typeface="Libre Franklin Medium"/>
                <a:cs typeface="Libre Franklin Medium"/>
                <a:sym typeface="Libre Franklin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2"/>
          <p:cNvSpPr/>
          <p:nvPr/>
        </p:nvSpPr>
        <p:spPr>
          <a:xfrm>
            <a:off x="2412460" y="5875506"/>
            <a:ext cx="1887166" cy="466928"/>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Shape 12"/>
        <p:cNvGrpSpPr/>
        <p:nvPr/>
      </p:nvGrpSpPr>
      <p:grpSpPr>
        <a:xfrm>
          <a:off x="0" y="0"/>
          <a:ext cx="0" cy="0"/>
          <a:chOff x="0" y="0"/>
          <a:chExt cx="0" cy="0"/>
        </a:xfrm>
      </p:grpSpPr>
      <p:pic>
        <p:nvPicPr>
          <p:cNvPr id="13" name="Google Shape;13;p13"/>
          <p:cNvPicPr preferRelativeResize="0"/>
          <p:nvPr/>
        </p:nvPicPr>
        <p:blipFill rotWithShape="1">
          <a:blip r:embed="rId2">
            <a:alphaModFix/>
          </a:blip>
          <a:srcRect/>
          <a:stretch/>
        </p:blipFill>
        <p:spPr>
          <a:xfrm>
            <a:off x="-2" y="-1"/>
            <a:ext cx="12192002" cy="6858001"/>
          </a:xfrm>
          <a:prstGeom prst="rect">
            <a:avLst/>
          </a:prstGeom>
          <a:noFill/>
          <a:ln>
            <a:noFill/>
          </a:ln>
        </p:spPr>
      </p:pic>
      <p:sp>
        <p:nvSpPr>
          <p:cNvPr id="14" name="Google Shape;14;p13"/>
          <p:cNvSpPr txBox="1">
            <a:spLocks noGrp="1"/>
          </p:cNvSpPr>
          <p:nvPr>
            <p:ph type="title"/>
          </p:nvPr>
        </p:nvSpPr>
        <p:spPr>
          <a:xfrm>
            <a:off x="838200" y="365125"/>
            <a:ext cx="10515600" cy="102635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rgbClr val="7E9FC3"/>
              </a:buClr>
              <a:buSzPts val="4400"/>
              <a:buFont typeface="Libre Franklin Medium"/>
              <a:buNone/>
              <a:defRPr sz="4400" b="0" i="0" u="none" strike="noStrike" cap="none">
                <a:solidFill>
                  <a:srgbClr val="7E9FC3"/>
                </a:solidFill>
                <a:latin typeface="Libre Franklin Medium"/>
                <a:ea typeface="Libre Franklin Medium"/>
                <a:cs typeface="Libre Franklin Medium"/>
                <a:sym typeface="Libre Franklin Medium"/>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5" name="Google Shape;15;p13"/>
          <p:cNvSpPr txBox="1">
            <a:spLocks noGrp="1"/>
          </p:cNvSpPr>
          <p:nvPr>
            <p:ph type="body" idx="1"/>
          </p:nvPr>
        </p:nvSpPr>
        <p:spPr>
          <a:xfrm>
            <a:off x="838199" y="1391478"/>
            <a:ext cx="10515599" cy="4785485"/>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Libre Franklin"/>
                <a:ea typeface="Libre Franklin"/>
                <a:cs typeface="Libre Franklin"/>
                <a:sym typeface="Libre Franklin"/>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6" name="Google Shape;16;p13"/>
          <p:cNvSpPr/>
          <p:nvPr/>
        </p:nvSpPr>
        <p:spPr>
          <a:xfrm>
            <a:off x="8647889" y="6492875"/>
            <a:ext cx="1138137" cy="209482"/>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1"/>
          <p:cNvSpPr txBox="1"/>
          <p:nvPr/>
        </p:nvSpPr>
        <p:spPr>
          <a:xfrm>
            <a:off x="5387150" y="6642100"/>
            <a:ext cx="1446212" cy="152400"/>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1000" b="0" i="0" u="none" strike="noStrike" cap="none">
                <a:solidFill>
                  <a:srgbClr val="000000"/>
                </a:solidFill>
                <a:latin typeface="Calibri"/>
                <a:ea typeface="Calibri"/>
                <a:cs typeface="Calibri"/>
                <a:sym typeface="Calibri"/>
              </a:rPr>
              <a:t>Vanguard Internal Use Only</a:t>
            </a:r>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
        <p:cNvGrpSpPr/>
        <p:nvPr/>
      </p:nvGrpSpPr>
      <p:grpSpPr>
        <a:xfrm>
          <a:off x="0" y="0"/>
          <a:ext cx="0" cy="0"/>
          <a:chOff x="0" y="0"/>
          <a:chExt cx="0" cy="0"/>
        </a:xfrm>
      </p:grpSpPr>
      <p:sp>
        <p:nvSpPr>
          <p:cNvPr id="21" name="Google Shape;21;p1"/>
          <p:cNvSpPr txBox="1">
            <a:spLocks noGrp="1"/>
          </p:cNvSpPr>
          <p:nvPr>
            <p:ph type="subTitle" idx="1"/>
          </p:nvPr>
        </p:nvSpPr>
        <p:spPr>
          <a:xfrm>
            <a:off x="1524000" y="2690571"/>
            <a:ext cx="9144000" cy="1354487"/>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1000"/>
              </a:spcBef>
              <a:spcAft>
                <a:spcPts val="0"/>
              </a:spcAft>
              <a:buClr>
                <a:schemeClr val="dk1"/>
              </a:buClr>
              <a:buSzPts val="2400"/>
              <a:buFont typeface="Arial"/>
              <a:buNone/>
            </a:pPr>
            <a:r>
              <a:rPr lang="en-US"/>
              <a:t>Janaka Jayalal Mohotti Bandara </a:t>
            </a:r>
            <a:endParaRPr/>
          </a:p>
          <a:p>
            <a:pPr marL="0" lvl="0" indent="0" algn="l" rtl="0">
              <a:lnSpc>
                <a:spcPct val="90000"/>
              </a:lnSpc>
              <a:spcBef>
                <a:spcPts val="1000"/>
              </a:spcBef>
              <a:spcAft>
                <a:spcPts val="0"/>
              </a:spcAft>
              <a:buClr>
                <a:schemeClr val="dk1"/>
              </a:buClr>
              <a:buSzPts val="2400"/>
              <a:buNone/>
            </a:pPr>
            <a:r>
              <a:rPr lang="en-US"/>
              <a:t>Shuai Yu </a:t>
            </a:r>
            <a:endParaRPr/>
          </a:p>
          <a:p>
            <a:pPr marL="0" marR="0" lvl="0" indent="0" algn="l" rtl="0">
              <a:lnSpc>
                <a:spcPct val="90000"/>
              </a:lnSpc>
              <a:spcBef>
                <a:spcPts val="1000"/>
              </a:spcBef>
              <a:spcAft>
                <a:spcPts val="0"/>
              </a:spcAft>
              <a:buClr>
                <a:schemeClr val="dk1"/>
              </a:buClr>
              <a:buSzPts val="2400"/>
              <a:buFont typeface="Arial"/>
              <a:buNone/>
            </a:pPr>
            <a:r>
              <a:rPr lang="en-US"/>
              <a:t>Kate Paparsenou</a:t>
            </a:r>
            <a:endParaRPr/>
          </a:p>
        </p:txBody>
      </p:sp>
      <p:sp>
        <p:nvSpPr>
          <p:cNvPr id="22" name="Google Shape;22;p1"/>
          <p:cNvSpPr txBox="1">
            <a:spLocks noGrp="1"/>
          </p:cNvSpPr>
          <p:nvPr>
            <p:ph type="title"/>
          </p:nvPr>
        </p:nvSpPr>
        <p:spPr>
          <a:xfrm>
            <a:off x="1524000" y="1113184"/>
            <a:ext cx="9144000" cy="1507606"/>
          </a:xfrm>
          <a:prstGeom prst="rect">
            <a:avLst/>
          </a:prstGeom>
          <a:noFill/>
          <a:ln>
            <a:noFill/>
          </a:ln>
        </p:spPr>
        <p:txBody>
          <a:bodyPr spcFirstLastPara="1" wrap="square" lIns="91425" tIns="45700" rIns="91425" bIns="45700" anchor="b" anchorCtr="0">
            <a:noAutofit/>
          </a:bodyPr>
          <a:lstStyle/>
          <a:p>
            <a:pPr marL="0" marR="0" lvl="0" indent="0" algn="l" rtl="0">
              <a:lnSpc>
                <a:spcPct val="90000"/>
              </a:lnSpc>
              <a:spcBef>
                <a:spcPts val="0"/>
              </a:spcBef>
              <a:spcAft>
                <a:spcPts val="0"/>
              </a:spcAft>
              <a:buClr>
                <a:srgbClr val="234078"/>
              </a:buClr>
              <a:buSzPts val="4400"/>
              <a:buFont typeface="Libre Franklin Medium"/>
              <a:buNone/>
            </a:pPr>
            <a:r>
              <a:rPr lang="en-US" b="1"/>
              <a:t>Tic-Tac-Toe 5x5 Board with Two Consecutive Moves Each</a:t>
            </a:r>
            <a:endParaRPr b="1"/>
          </a:p>
        </p:txBody>
      </p:sp>
      <p:sp>
        <p:nvSpPr>
          <p:cNvPr id="23" name="Google Shape;23;p1"/>
          <p:cNvSpPr txBox="1"/>
          <p:nvPr/>
        </p:nvSpPr>
        <p:spPr>
          <a:xfrm>
            <a:off x="1524000" y="3928751"/>
            <a:ext cx="9144000" cy="977785"/>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chemeClr val="dk1"/>
              </a:buClr>
              <a:buSzPts val="2400"/>
              <a:buFont typeface="Arial"/>
              <a:buNone/>
            </a:pPr>
            <a:endParaRPr sz="2400" b="0" i="0" u="none" strike="noStrike" cap="none">
              <a:solidFill>
                <a:schemeClr val="dk1"/>
              </a:solidFill>
              <a:latin typeface="Libre Franklin"/>
              <a:ea typeface="Libre Franklin"/>
              <a:cs typeface="Libre Franklin"/>
              <a:sym typeface="Libre Franklin"/>
            </a:endParaRPr>
          </a:p>
          <a:p>
            <a:pPr marL="0" marR="0" lvl="0" indent="0" algn="l" rtl="0">
              <a:lnSpc>
                <a:spcPct val="90000"/>
              </a:lnSpc>
              <a:spcBef>
                <a:spcPts val="1000"/>
              </a:spcBef>
              <a:spcAft>
                <a:spcPts val="0"/>
              </a:spcAft>
              <a:buClr>
                <a:schemeClr val="dk1"/>
              </a:buClr>
              <a:buSzPts val="2400"/>
              <a:buFont typeface="Arial"/>
              <a:buNone/>
            </a:pPr>
            <a:r>
              <a:rPr lang="en-US" sz="2400" b="0" i="0" u="none" strike="noStrike" cap="none">
                <a:solidFill>
                  <a:schemeClr val="dk1"/>
                </a:solidFill>
                <a:latin typeface="Libre Franklin"/>
                <a:ea typeface="Libre Franklin"/>
                <a:cs typeface="Libre Franklin"/>
                <a:sym typeface="Libre Franklin"/>
              </a:rPr>
              <a:t>Foundations of AI (</a:t>
            </a:r>
            <a:r>
              <a:rPr lang="en-US" sz="2400" b="0" i="1" u="none" strike="noStrike" cap="none">
                <a:solidFill>
                  <a:schemeClr val="dk1"/>
                </a:solidFill>
                <a:latin typeface="Libre Franklin"/>
                <a:ea typeface="Libre Franklin"/>
                <a:cs typeface="Libre Franklin"/>
                <a:sym typeface="Libre Franklin"/>
              </a:rPr>
              <a:t>Spring 2025) </a:t>
            </a:r>
            <a:endParaRPr sz="2400" b="0" i="1" u="none" strike="noStrike" cap="none">
              <a:solidFill>
                <a:schemeClr val="dk1"/>
              </a:solidFill>
              <a:latin typeface="Libre Franklin"/>
              <a:ea typeface="Libre Franklin"/>
              <a:cs typeface="Libre Franklin"/>
              <a:sym typeface="Libre Frankli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8"/>
        <p:cNvGrpSpPr/>
        <p:nvPr/>
      </p:nvGrpSpPr>
      <p:grpSpPr>
        <a:xfrm>
          <a:off x="0" y="0"/>
          <a:ext cx="0" cy="0"/>
          <a:chOff x="0" y="0"/>
          <a:chExt cx="0" cy="0"/>
        </a:xfrm>
      </p:grpSpPr>
      <p:sp>
        <p:nvSpPr>
          <p:cNvPr id="29" name="Google Shape;29;p2"/>
          <p:cNvSpPr txBox="1">
            <a:spLocks noGrp="1"/>
          </p:cNvSpPr>
          <p:nvPr>
            <p:ph type="title"/>
          </p:nvPr>
        </p:nvSpPr>
        <p:spPr>
          <a:xfrm>
            <a:off x="838200" y="365125"/>
            <a:ext cx="10515600" cy="102635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F5496"/>
              </a:buClr>
              <a:buSzPts val="4400"/>
              <a:buFont typeface="Libre Franklin Medium"/>
              <a:buNone/>
            </a:pPr>
            <a:r>
              <a:rPr lang="en-US">
                <a:solidFill>
                  <a:srgbClr val="2F5496"/>
                </a:solidFill>
              </a:rPr>
              <a:t>Modified Tic-Tac-Toe</a:t>
            </a:r>
            <a:endParaRPr/>
          </a:p>
        </p:txBody>
      </p:sp>
      <p:sp>
        <p:nvSpPr>
          <p:cNvPr id="30" name="Google Shape;30;p2"/>
          <p:cNvSpPr txBox="1">
            <a:spLocks noGrp="1"/>
          </p:cNvSpPr>
          <p:nvPr>
            <p:ph type="body" idx="1"/>
          </p:nvPr>
        </p:nvSpPr>
        <p:spPr>
          <a:xfrm>
            <a:off x="945000" y="1520983"/>
            <a:ext cx="10408800" cy="4656092"/>
          </a:xfrm>
          <a:prstGeom prst="rect">
            <a:avLst/>
          </a:prstGeom>
          <a:noFill/>
          <a:ln>
            <a:noFill/>
          </a:ln>
        </p:spPr>
        <p:txBody>
          <a:bodyPr spcFirstLastPara="1" wrap="square" lIns="91425" tIns="45700" rIns="91425" bIns="45700" anchor="t" anchorCtr="0">
            <a:noAutofit/>
          </a:bodyPr>
          <a:lstStyle/>
          <a:p>
            <a:pPr marL="0" lvl="0" indent="0" algn="l" rtl="0">
              <a:lnSpc>
                <a:spcPct val="125000"/>
              </a:lnSpc>
              <a:spcBef>
                <a:spcPts val="0"/>
              </a:spcBef>
              <a:spcAft>
                <a:spcPts val="0"/>
              </a:spcAft>
              <a:buClr>
                <a:schemeClr val="dk1"/>
              </a:buClr>
              <a:buSzPts val="2800"/>
              <a:buNone/>
            </a:pPr>
            <a:r>
              <a:rPr lang="en-US">
                <a:solidFill>
                  <a:schemeClr val="dk1"/>
                </a:solidFill>
              </a:rPr>
              <a:t>Modified Tic-Tac-Toe game is: </a:t>
            </a:r>
            <a:endParaRPr/>
          </a:p>
          <a:p>
            <a:pPr marL="228600" lvl="0" indent="-228600" algn="l" rtl="0">
              <a:lnSpc>
                <a:spcPct val="125000"/>
              </a:lnSpc>
              <a:spcBef>
                <a:spcPts val="0"/>
              </a:spcBef>
              <a:spcAft>
                <a:spcPts val="0"/>
              </a:spcAft>
              <a:buClr>
                <a:schemeClr val="dk1"/>
              </a:buClr>
              <a:buSzPts val="2800"/>
              <a:buChar char="•"/>
            </a:pPr>
            <a:r>
              <a:rPr lang="en-US" b="1">
                <a:solidFill>
                  <a:schemeClr val="accent1"/>
                </a:solidFill>
              </a:rPr>
              <a:t>Game board</a:t>
            </a:r>
            <a:r>
              <a:rPr lang="en-US">
                <a:solidFill>
                  <a:schemeClr val="dk1"/>
                </a:solidFill>
              </a:rPr>
              <a:t>: On a larger 5x5 grid board </a:t>
            </a:r>
            <a:endParaRPr/>
          </a:p>
          <a:p>
            <a:pPr marL="228600" lvl="0" indent="-228600" algn="l" rtl="0">
              <a:lnSpc>
                <a:spcPct val="125000"/>
              </a:lnSpc>
              <a:spcBef>
                <a:spcPts val="0"/>
              </a:spcBef>
              <a:spcAft>
                <a:spcPts val="0"/>
              </a:spcAft>
              <a:buSzPts val="2800"/>
              <a:buChar char="•"/>
            </a:pPr>
            <a:r>
              <a:rPr lang="en-US" b="1">
                <a:solidFill>
                  <a:schemeClr val="accent1"/>
                </a:solidFill>
              </a:rPr>
              <a:t>Play rules</a:t>
            </a:r>
            <a:r>
              <a:rPr lang="en-US">
                <a:solidFill>
                  <a:schemeClr val="dk1"/>
                </a:solidFill>
              </a:rPr>
              <a:t>: each player place two marks per turn</a:t>
            </a:r>
            <a:endParaRPr/>
          </a:p>
          <a:p>
            <a:pPr marL="228600" lvl="0" indent="-228600" algn="l" rtl="0">
              <a:lnSpc>
                <a:spcPct val="125000"/>
              </a:lnSpc>
              <a:spcBef>
                <a:spcPts val="0"/>
              </a:spcBef>
              <a:spcAft>
                <a:spcPts val="0"/>
              </a:spcAft>
              <a:buClr>
                <a:schemeClr val="dk1"/>
              </a:buClr>
              <a:buSzPts val="2800"/>
              <a:buChar char="•"/>
            </a:pPr>
            <a:r>
              <a:rPr lang="en-US" b="1">
                <a:solidFill>
                  <a:schemeClr val="accent1"/>
                </a:solidFill>
              </a:rPr>
              <a:t>Winning condition</a:t>
            </a:r>
            <a:r>
              <a:rPr lang="en-US">
                <a:solidFill>
                  <a:schemeClr val="dk1"/>
                </a:solidFill>
              </a:rPr>
              <a:t>: align 5 identical marks in a row</a:t>
            </a:r>
            <a:endParaRPr/>
          </a:p>
        </p:txBody>
      </p:sp>
      <p:pic>
        <p:nvPicPr>
          <p:cNvPr id="31" name="Google Shape;31;p2"/>
          <p:cNvPicPr preferRelativeResize="0"/>
          <p:nvPr/>
        </p:nvPicPr>
        <p:blipFill rotWithShape="1">
          <a:blip r:embed="rId3">
            <a:alphaModFix/>
          </a:blip>
          <a:srcRect/>
          <a:stretch/>
        </p:blipFill>
        <p:spPr>
          <a:xfrm>
            <a:off x="6096000" y="4035703"/>
            <a:ext cx="2295055" cy="2207266"/>
          </a:xfrm>
          <a:prstGeom prst="rect">
            <a:avLst/>
          </a:prstGeom>
          <a:noFill/>
          <a:ln>
            <a:noFill/>
          </a:ln>
        </p:spPr>
      </p:pic>
      <p:pic>
        <p:nvPicPr>
          <p:cNvPr id="32" name="Google Shape;32;p2" descr="zeyce Tic Tac Toe Board Game ..."/>
          <p:cNvPicPr preferRelativeResize="0"/>
          <p:nvPr/>
        </p:nvPicPr>
        <p:blipFill rotWithShape="1">
          <a:blip r:embed="rId4">
            <a:alphaModFix/>
          </a:blip>
          <a:srcRect/>
          <a:stretch/>
        </p:blipFill>
        <p:spPr>
          <a:xfrm>
            <a:off x="2246225" y="4003563"/>
            <a:ext cx="2295054" cy="2305300"/>
          </a:xfrm>
          <a:prstGeom prst="rect">
            <a:avLst/>
          </a:prstGeom>
          <a:noFill/>
          <a:ln>
            <a:noFill/>
          </a:ln>
        </p:spPr>
      </p:pic>
      <p:sp>
        <p:nvSpPr>
          <p:cNvPr id="33" name="Google Shape;33;p2"/>
          <p:cNvSpPr/>
          <p:nvPr/>
        </p:nvSpPr>
        <p:spPr>
          <a:xfrm>
            <a:off x="4995416" y="4852785"/>
            <a:ext cx="847088" cy="606855"/>
          </a:xfrm>
          <a:prstGeom prst="rightArrow">
            <a:avLst>
              <a:gd name="adj1" fmla="val 50000"/>
              <a:gd name="adj2" fmla="val 50000"/>
            </a:avLst>
          </a:prstGeom>
          <a:solidFill>
            <a:schemeClr val="accent1"/>
          </a:solidFill>
          <a:ln w="25400" cap="flat" cmpd="sng">
            <a:solidFill>
              <a:srgbClr val="1C305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8"/>
        <p:cNvGrpSpPr/>
        <p:nvPr/>
      </p:nvGrpSpPr>
      <p:grpSpPr>
        <a:xfrm>
          <a:off x="0" y="0"/>
          <a:ext cx="0" cy="0"/>
          <a:chOff x="0" y="0"/>
          <a:chExt cx="0" cy="0"/>
        </a:xfrm>
      </p:grpSpPr>
      <p:sp>
        <p:nvSpPr>
          <p:cNvPr id="39" name="Google Shape;39;p14"/>
          <p:cNvSpPr txBox="1">
            <a:spLocks noGrp="1"/>
          </p:cNvSpPr>
          <p:nvPr>
            <p:ph type="title"/>
          </p:nvPr>
        </p:nvSpPr>
        <p:spPr>
          <a:xfrm>
            <a:off x="838200" y="365125"/>
            <a:ext cx="10515600" cy="102635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F5496"/>
              </a:buClr>
              <a:buSzPts val="4400"/>
              <a:buFont typeface="Libre Franklin Medium"/>
              <a:buNone/>
            </a:pPr>
            <a:r>
              <a:rPr lang="en-US">
                <a:solidFill>
                  <a:srgbClr val="2F5496"/>
                </a:solidFill>
              </a:rPr>
              <a:t>Objectives</a:t>
            </a:r>
            <a:endParaRPr/>
          </a:p>
        </p:txBody>
      </p:sp>
      <p:sp>
        <p:nvSpPr>
          <p:cNvPr id="40" name="Google Shape;40;p14"/>
          <p:cNvSpPr txBox="1">
            <a:spLocks noGrp="1"/>
          </p:cNvSpPr>
          <p:nvPr>
            <p:ph type="body" idx="1"/>
          </p:nvPr>
        </p:nvSpPr>
        <p:spPr>
          <a:xfrm>
            <a:off x="945000" y="1391475"/>
            <a:ext cx="10408800" cy="4785600"/>
          </a:xfrm>
          <a:prstGeom prst="rect">
            <a:avLst/>
          </a:prstGeom>
          <a:noFill/>
          <a:ln>
            <a:noFill/>
          </a:ln>
        </p:spPr>
        <p:txBody>
          <a:bodyPr spcFirstLastPara="1" wrap="square" lIns="91425" tIns="45700" rIns="91425" bIns="45700" anchor="t" anchorCtr="0">
            <a:noAutofit/>
          </a:bodyPr>
          <a:lstStyle/>
          <a:p>
            <a:pPr marL="228600" lvl="0" indent="-50800" algn="l" rtl="0">
              <a:lnSpc>
                <a:spcPct val="125000"/>
              </a:lnSpc>
              <a:spcBef>
                <a:spcPts val="0"/>
              </a:spcBef>
              <a:spcAft>
                <a:spcPts val="0"/>
              </a:spcAft>
              <a:buClr>
                <a:schemeClr val="dk1"/>
              </a:buClr>
              <a:buSzPts val="2800"/>
              <a:buNone/>
            </a:pPr>
            <a:endParaRPr/>
          </a:p>
          <a:p>
            <a:pPr marL="228600" lvl="0" indent="-228600" algn="l" rtl="0">
              <a:lnSpc>
                <a:spcPct val="125000"/>
              </a:lnSpc>
              <a:spcBef>
                <a:spcPts val="0"/>
              </a:spcBef>
              <a:spcAft>
                <a:spcPts val="0"/>
              </a:spcAft>
              <a:buClr>
                <a:schemeClr val="dk1"/>
              </a:buClr>
              <a:buSzPts val="2800"/>
              <a:buChar char="•"/>
            </a:pPr>
            <a:r>
              <a:rPr lang="en-US"/>
              <a:t>Apply different types of </a:t>
            </a:r>
            <a:r>
              <a:rPr lang="en-US" b="1">
                <a:solidFill>
                  <a:schemeClr val="accent1"/>
                </a:solidFill>
              </a:rPr>
              <a:t>AI algorithms </a:t>
            </a:r>
            <a:r>
              <a:rPr lang="en-US"/>
              <a:t>to play the modified </a:t>
            </a:r>
            <a:r>
              <a:rPr lang="en-US">
                <a:solidFill>
                  <a:schemeClr val="dk1"/>
                </a:solidFill>
              </a:rPr>
              <a:t>Tic-Tac-Toe </a:t>
            </a:r>
            <a:r>
              <a:rPr lang="en-US"/>
              <a:t>game;</a:t>
            </a:r>
            <a:endParaRPr/>
          </a:p>
          <a:p>
            <a:pPr marL="228600" lvl="0" indent="-50800" algn="l" rtl="0">
              <a:lnSpc>
                <a:spcPct val="125000"/>
              </a:lnSpc>
              <a:spcBef>
                <a:spcPts val="0"/>
              </a:spcBef>
              <a:spcAft>
                <a:spcPts val="0"/>
              </a:spcAft>
              <a:buClr>
                <a:schemeClr val="dk1"/>
              </a:buClr>
              <a:buSzPts val="2800"/>
              <a:buNone/>
            </a:pPr>
            <a:endParaRPr/>
          </a:p>
          <a:p>
            <a:pPr marL="228600" lvl="0" indent="-228600" algn="l" rtl="0">
              <a:lnSpc>
                <a:spcPct val="125000"/>
              </a:lnSpc>
              <a:spcBef>
                <a:spcPts val="0"/>
              </a:spcBef>
              <a:spcAft>
                <a:spcPts val="0"/>
              </a:spcAft>
              <a:buClr>
                <a:schemeClr val="dk1"/>
              </a:buClr>
              <a:buSzPts val="2800"/>
              <a:buChar char="•"/>
            </a:pPr>
            <a:r>
              <a:rPr lang="en-US"/>
              <a:t>Compare the </a:t>
            </a:r>
            <a:r>
              <a:rPr lang="en-US" b="1">
                <a:solidFill>
                  <a:schemeClr val="accent1"/>
                </a:solidFill>
              </a:rPr>
              <a:t>performance of various AI algorithms </a:t>
            </a:r>
            <a:r>
              <a:rPr lang="en-US"/>
              <a:t>within reasonable computational timeframes at various evaluation scenarios.</a:t>
            </a:r>
            <a:endParaRPr/>
          </a:p>
          <a:p>
            <a:pPr marL="228600" lvl="0" indent="-50800" algn="l" rtl="0">
              <a:lnSpc>
                <a:spcPct val="90000"/>
              </a:lnSpc>
              <a:spcBef>
                <a:spcPts val="0"/>
              </a:spcBef>
              <a:spcAft>
                <a:spcPts val="0"/>
              </a:spcAft>
              <a:buClr>
                <a:schemeClr val="dk1"/>
              </a:buClr>
              <a:buSzPts val="2800"/>
              <a:buNone/>
            </a:pPr>
            <a:endParaRPr/>
          </a:p>
          <a:p>
            <a:pPr marL="228600" lvl="0" indent="-50800" algn="l" rtl="0">
              <a:lnSpc>
                <a:spcPct val="90000"/>
              </a:lnSpc>
              <a:spcBef>
                <a:spcPts val="0"/>
              </a:spcBef>
              <a:spcAft>
                <a:spcPts val="0"/>
              </a:spcAft>
              <a:buClr>
                <a:schemeClr val="dk1"/>
              </a:buClr>
              <a:buSzPts val="2800"/>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3"/>
          <p:cNvSpPr txBox="1">
            <a:spLocks noGrp="1"/>
          </p:cNvSpPr>
          <p:nvPr>
            <p:ph type="title"/>
          </p:nvPr>
        </p:nvSpPr>
        <p:spPr>
          <a:xfrm>
            <a:off x="838200" y="365125"/>
            <a:ext cx="10515600" cy="102635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F5496"/>
              </a:buClr>
              <a:buSzPts val="4400"/>
              <a:buFont typeface="Libre Franklin Medium"/>
              <a:buNone/>
            </a:pPr>
            <a:r>
              <a:rPr lang="en-US">
                <a:solidFill>
                  <a:srgbClr val="2F5496"/>
                </a:solidFill>
              </a:rPr>
              <a:t>Context and Challenges</a:t>
            </a:r>
            <a:endParaRPr/>
          </a:p>
        </p:txBody>
      </p:sp>
      <p:sp>
        <p:nvSpPr>
          <p:cNvPr id="47" name="Google Shape;47;p3"/>
          <p:cNvSpPr txBox="1">
            <a:spLocks noGrp="1"/>
          </p:cNvSpPr>
          <p:nvPr>
            <p:ph type="body" idx="1"/>
          </p:nvPr>
        </p:nvSpPr>
        <p:spPr>
          <a:xfrm>
            <a:off x="838199" y="1391478"/>
            <a:ext cx="10515599" cy="4785485"/>
          </a:xfrm>
          <a:prstGeom prst="rect">
            <a:avLst/>
          </a:prstGeom>
          <a:noFill/>
          <a:ln>
            <a:noFill/>
          </a:ln>
        </p:spPr>
        <p:txBody>
          <a:bodyPr spcFirstLastPara="1" wrap="square" lIns="91425" tIns="45700" rIns="91425" bIns="45700" anchor="t" anchorCtr="0">
            <a:noAutofit/>
          </a:bodyPr>
          <a:lstStyle/>
          <a:p>
            <a:pPr marL="0" lvl="0" indent="0" algn="l" rtl="0">
              <a:lnSpc>
                <a:spcPct val="125000"/>
              </a:lnSpc>
              <a:spcBef>
                <a:spcPts val="0"/>
              </a:spcBef>
              <a:spcAft>
                <a:spcPts val="0"/>
              </a:spcAft>
              <a:buSzPts val="2800"/>
              <a:buChar char="•"/>
            </a:pPr>
            <a:r>
              <a:rPr lang="en-US" sz="2400" b="1">
                <a:solidFill>
                  <a:schemeClr val="accent1"/>
                </a:solidFill>
              </a:rPr>
              <a:t>State Space Explosion</a:t>
            </a:r>
            <a:endParaRPr/>
          </a:p>
          <a:p>
            <a:pPr marL="274320" lvl="0" indent="-50800" algn="l" rtl="0">
              <a:lnSpc>
                <a:spcPct val="125000"/>
              </a:lnSpc>
              <a:spcBef>
                <a:spcPts val="0"/>
              </a:spcBef>
              <a:spcAft>
                <a:spcPts val="0"/>
              </a:spcAft>
              <a:buClr>
                <a:schemeClr val="dk1"/>
              </a:buClr>
              <a:buSzPts val="2800"/>
              <a:buNone/>
            </a:pPr>
            <a:r>
              <a:rPr lang="en-US" sz="1800"/>
              <a:t>In a 3×3 board, the theoretical number of possible board states is </a:t>
            </a:r>
            <a:r>
              <a:rPr lang="en-US" sz="1800" b="1" i="1"/>
              <a:t>3</a:t>
            </a:r>
            <a:r>
              <a:rPr lang="en-US" sz="1800" b="1" i="1" baseline="30000"/>
              <a:t>9</a:t>
            </a:r>
            <a:r>
              <a:rPr lang="en-US" sz="1800" b="1" i="1"/>
              <a:t>=19683</a:t>
            </a:r>
            <a:r>
              <a:rPr lang="en-US" sz="1800"/>
              <a:t>. </a:t>
            </a:r>
            <a:endParaRPr/>
          </a:p>
          <a:p>
            <a:pPr marL="274320" lvl="0" indent="-50800" algn="l" rtl="0">
              <a:lnSpc>
                <a:spcPct val="125000"/>
              </a:lnSpc>
              <a:spcBef>
                <a:spcPts val="0"/>
              </a:spcBef>
              <a:spcAft>
                <a:spcPts val="0"/>
              </a:spcAft>
              <a:buClr>
                <a:schemeClr val="dk1"/>
              </a:buClr>
              <a:buSzPts val="2800"/>
              <a:buNone/>
            </a:pPr>
            <a:r>
              <a:rPr lang="en-US" sz="1800"/>
              <a:t>In a 5×5 board, the theoretical number of possible board states </a:t>
            </a:r>
            <a:r>
              <a:rPr lang="en-US" sz="1800" b="1" i="1"/>
              <a:t>3</a:t>
            </a:r>
            <a:r>
              <a:rPr lang="en-US" sz="1800" b="1" i="1" baseline="30000"/>
              <a:t>25</a:t>
            </a:r>
            <a:r>
              <a:rPr lang="en-US" sz="1800" b="1" i="1"/>
              <a:t> ≈ 8.4×10</a:t>
            </a:r>
            <a:r>
              <a:rPr lang="en-US" sz="1800" b="1" i="1" baseline="30000"/>
              <a:t>11</a:t>
            </a:r>
            <a:r>
              <a:rPr lang="en-US" sz="1800"/>
              <a:t>. </a:t>
            </a:r>
            <a:endParaRPr/>
          </a:p>
          <a:p>
            <a:pPr marL="228600" lvl="0" indent="-50800" algn="l" rtl="0">
              <a:lnSpc>
                <a:spcPct val="125000"/>
              </a:lnSpc>
              <a:spcBef>
                <a:spcPts val="0"/>
              </a:spcBef>
              <a:spcAft>
                <a:spcPts val="0"/>
              </a:spcAft>
              <a:buClr>
                <a:schemeClr val="dk1"/>
              </a:buClr>
              <a:buSzPts val="2800"/>
              <a:buNone/>
            </a:pPr>
            <a:endParaRPr sz="1800"/>
          </a:p>
          <a:p>
            <a:pPr marL="0" lvl="0" indent="0" algn="l" rtl="0">
              <a:lnSpc>
                <a:spcPct val="125000"/>
              </a:lnSpc>
              <a:spcBef>
                <a:spcPts val="0"/>
              </a:spcBef>
              <a:spcAft>
                <a:spcPts val="0"/>
              </a:spcAft>
              <a:buSzPts val="2800"/>
              <a:buChar char="•"/>
            </a:pPr>
            <a:r>
              <a:rPr lang="en-US" sz="2400" b="1">
                <a:solidFill>
                  <a:schemeClr val="accent1"/>
                </a:solidFill>
              </a:rPr>
              <a:t>Action Space Expansion (Two Moves per Turn)</a:t>
            </a:r>
            <a:endParaRPr/>
          </a:p>
          <a:p>
            <a:pPr marL="274320" lvl="0" indent="0" algn="l" rtl="0">
              <a:lnSpc>
                <a:spcPct val="125000"/>
              </a:lnSpc>
              <a:spcBef>
                <a:spcPts val="0"/>
              </a:spcBef>
              <a:spcAft>
                <a:spcPts val="0"/>
              </a:spcAft>
              <a:buSzPts val="2800"/>
              <a:buNone/>
            </a:pPr>
            <a:r>
              <a:rPr lang="en-US" sz="1800"/>
              <a:t>This quadratic growth further increases the possible moves significantly. </a:t>
            </a:r>
            <a:endParaRPr/>
          </a:p>
          <a:p>
            <a:pPr marL="274320" lvl="0" indent="0" algn="l" rtl="0">
              <a:lnSpc>
                <a:spcPct val="125000"/>
              </a:lnSpc>
              <a:spcBef>
                <a:spcPts val="0"/>
              </a:spcBef>
              <a:spcAft>
                <a:spcPts val="0"/>
              </a:spcAft>
              <a:buSzPts val="2800"/>
              <a:buNone/>
            </a:pPr>
            <a:r>
              <a:rPr lang="en-US" sz="1800"/>
              <a:t>If there are </a:t>
            </a:r>
            <a:r>
              <a:rPr lang="en-US" sz="1800" b="1" i="1"/>
              <a:t>n</a:t>
            </a:r>
            <a:r>
              <a:rPr lang="en-US" sz="1800"/>
              <a:t> empty cells remaining, placing one marks will need evaluate </a:t>
            </a:r>
            <a:r>
              <a:rPr lang="en-US" sz="1800" b="1" i="1"/>
              <a:t>n</a:t>
            </a:r>
            <a:r>
              <a:rPr lang="en-US" sz="1800"/>
              <a:t> possible move. While the number of possible action pairs for two moves is </a:t>
            </a:r>
            <a:r>
              <a:rPr lang="en-US" sz="1800" b="1" i="1"/>
              <a:t>n(n−1)/2</a:t>
            </a:r>
            <a:r>
              <a:rPr lang="en-US" sz="1800"/>
              <a:t>. </a:t>
            </a:r>
            <a:endParaRPr/>
          </a:p>
          <a:p>
            <a:pPr marL="228600" lvl="0" indent="-50800" algn="l" rtl="0">
              <a:lnSpc>
                <a:spcPct val="125000"/>
              </a:lnSpc>
              <a:spcBef>
                <a:spcPts val="0"/>
              </a:spcBef>
              <a:spcAft>
                <a:spcPts val="0"/>
              </a:spcAft>
              <a:buClr>
                <a:schemeClr val="dk1"/>
              </a:buClr>
              <a:buSzPts val="2800"/>
              <a:buNone/>
            </a:pPr>
            <a:endParaRPr sz="1800"/>
          </a:p>
          <a:p>
            <a:pPr marL="0" lvl="0" indent="0" algn="l" rtl="0">
              <a:lnSpc>
                <a:spcPct val="125000"/>
              </a:lnSpc>
              <a:spcBef>
                <a:spcPts val="0"/>
              </a:spcBef>
              <a:spcAft>
                <a:spcPts val="0"/>
              </a:spcAft>
              <a:buSzPts val="2800"/>
              <a:buChar char="•"/>
            </a:pPr>
            <a:r>
              <a:rPr lang="en-US" sz="2400" b="1">
                <a:solidFill>
                  <a:schemeClr val="accent1"/>
                </a:solidFill>
              </a:rPr>
              <a:t>Search Tree Growth</a:t>
            </a:r>
            <a:endParaRPr/>
          </a:p>
          <a:p>
            <a:pPr marL="274320" lvl="0" indent="-50800" algn="l" rtl="0">
              <a:lnSpc>
                <a:spcPct val="125000"/>
              </a:lnSpc>
              <a:spcBef>
                <a:spcPts val="0"/>
              </a:spcBef>
              <a:spcAft>
                <a:spcPts val="0"/>
              </a:spcAft>
              <a:buClr>
                <a:schemeClr val="dk1"/>
              </a:buClr>
              <a:buSzPts val="2800"/>
              <a:buNone/>
            </a:pPr>
            <a:r>
              <a:rPr lang="en-US" sz="1800"/>
              <a:t>The number of nodes that must be evaluated increases rapidly, making full-depth search computationally infeasible, </a:t>
            </a:r>
            <a:r>
              <a:rPr lang="en-US" sz="1800" b="1" i="1"/>
              <a:t>suitable heuristic functions and strategies </a:t>
            </a:r>
            <a:r>
              <a:rPr lang="en-US" sz="1800"/>
              <a:t>are thereby required.</a:t>
            </a:r>
            <a:endParaRPr/>
          </a:p>
          <a:p>
            <a:pPr marL="228600" lvl="0" indent="-50800" algn="l" rtl="0">
              <a:lnSpc>
                <a:spcPct val="125000"/>
              </a:lnSpc>
              <a:spcBef>
                <a:spcPts val="0"/>
              </a:spcBef>
              <a:spcAft>
                <a:spcPts val="0"/>
              </a:spcAft>
              <a:buClr>
                <a:schemeClr val="dk1"/>
              </a:buClr>
              <a:buSzPts val="2800"/>
              <a:buNone/>
            </a:pPr>
            <a:endParaRPr sz="1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4"/>
          <p:cNvSpPr txBox="1">
            <a:spLocks noGrp="1"/>
          </p:cNvSpPr>
          <p:nvPr>
            <p:ph type="title"/>
          </p:nvPr>
        </p:nvSpPr>
        <p:spPr>
          <a:xfrm>
            <a:off x="838200" y="365125"/>
            <a:ext cx="10515600" cy="102635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F5496"/>
              </a:buClr>
              <a:buSzPts val="4400"/>
              <a:buFont typeface="Libre Franklin Medium"/>
              <a:buNone/>
            </a:pPr>
            <a:r>
              <a:rPr lang="en-US">
                <a:solidFill>
                  <a:srgbClr val="2F5496"/>
                </a:solidFill>
              </a:rPr>
              <a:t>Solution and Contributions</a:t>
            </a:r>
            <a:endParaRPr/>
          </a:p>
        </p:txBody>
      </p:sp>
      <p:sp>
        <p:nvSpPr>
          <p:cNvPr id="54" name="Google Shape;54;p4"/>
          <p:cNvSpPr txBox="1">
            <a:spLocks noGrp="1"/>
          </p:cNvSpPr>
          <p:nvPr>
            <p:ph type="body" idx="1"/>
          </p:nvPr>
        </p:nvSpPr>
        <p:spPr>
          <a:xfrm>
            <a:off x="838199" y="1391478"/>
            <a:ext cx="10641595" cy="4982162"/>
          </a:xfrm>
          <a:prstGeom prst="rect">
            <a:avLst/>
          </a:prstGeom>
          <a:noFill/>
          <a:ln>
            <a:noFill/>
          </a:ln>
        </p:spPr>
        <p:txBody>
          <a:bodyPr spcFirstLastPara="1" wrap="square" lIns="91425" tIns="45700" rIns="91425" bIns="45700" anchor="t" anchorCtr="0">
            <a:noAutofit/>
          </a:bodyPr>
          <a:lstStyle/>
          <a:p>
            <a:pPr marL="228600" lvl="0" indent="-50800" algn="l" rtl="0">
              <a:lnSpc>
                <a:spcPct val="120000"/>
              </a:lnSpc>
              <a:spcBef>
                <a:spcPts val="0"/>
              </a:spcBef>
              <a:spcAft>
                <a:spcPts val="0"/>
              </a:spcAft>
              <a:buClr>
                <a:schemeClr val="dk1"/>
              </a:buClr>
              <a:buSzPts val="2800"/>
              <a:buNone/>
            </a:pPr>
            <a:r>
              <a:rPr lang="en-US" sz="2400" b="1">
                <a:solidFill>
                  <a:schemeClr val="accent1"/>
                </a:solidFill>
              </a:rPr>
              <a:t>Various Algorithms: </a:t>
            </a:r>
            <a:endParaRPr/>
          </a:p>
          <a:p>
            <a:pPr marL="520700" lvl="0" indent="-342900" algn="l" rtl="0">
              <a:lnSpc>
                <a:spcPct val="120000"/>
              </a:lnSpc>
              <a:spcBef>
                <a:spcPts val="0"/>
              </a:spcBef>
              <a:spcAft>
                <a:spcPts val="0"/>
              </a:spcAft>
              <a:buSzPts val="2800"/>
              <a:buChar char="•"/>
            </a:pPr>
            <a:r>
              <a:rPr lang="en-US" sz="2400"/>
              <a:t>Minimax with Alpha Beta Pruning using a </a:t>
            </a:r>
            <a:r>
              <a:rPr lang="en-US" sz="2400" b="1"/>
              <a:t>basic heuristic </a:t>
            </a:r>
            <a:r>
              <a:rPr lang="en-US" sz="2400"/>
              <a:t>cutoff (MMAB-B)</a:t>
            </a:r>
            <a:endParaRPr/>
          </a:p>
          <a:p>
            <a:pPr marL="520700" lvl="0" indent="-342900" algn="l" rtl="0">
              <a:lnSpc>
                <a:spcPct val="120000"/>
              </a:lnSpc>
              <a:spcBef>
                <a:spcPts val="0"/>
              </a:spcBef>
              <a:spcAft>
                <a:spcPts val="0"/>
              </a:spcAft>
              <a:buSzPts val="2800"/>
              <a:buChar char="•"/>
            </a:pPr>
            <a:r>
              <a:rPr lang="en-US" sz="2400"/>
              <a:t>Minimax with Alpha Beta Pruning using a </a:t>
            </a:r>
            <a:r>
              <a:rPr lang="en-US" sz="2400" b="1"/>
              <a:t>Monte Carlo heuristic</a:t>
            </a:r>
            <a:r>
              <a:rPr lang="en-US" sz="2400"/>
              <a:t> cutoff(MMAB-MC)</a:t>
            </a:r>
            <a:endParaRPr/>
          </a:p>
          <a:p>
            <a:pPr marL="520700" lvl="0" indent="-342900" algn="l" rtl="0">
              <a:lnSpc>
                <a:spcPct val="120000"/>
              </a:lnSpc>
              <a:spcBef>
                <a:spcPts val="0"/>
              </a:spcBef>
              <a:spcAft>
                <a:spcPts val="0"/>
              </a:spcAft>
              <a:buSzPts val="2800"/>
              <a:buChar char="•"/>
            </a:pPr>
            <a:r>
              <a:rPr lang="en-US" sz="2400" b="1"/>
              <a:t>Greedy</a:t>
            </a:r>
            <a:r>
              <a:rPr lang="en-US" sz="2400"/>
              <a:t> Algorithm</a:t>
            </a:r>
            <a:endParaRPr/>
          </a:p>
          <a:p>
            <a:pPr marL="520700" lvl="0" indent="-165100" algn="l" rtl="0">
              <a:lnSpc>
                <a:spcPct val="120000"/>
              </a:lnSpc>
              <a:spcBef>
                <a:spcPts val="0"/>
              </a:spcBef>
              <a:spcAft>
                <a:spcPts val="0"/>
              </a:spcAft>
              <a:buSzPts val="2800"/>
              <a:buNone/>
            </a:pPr>
            <a:endParaRPr sz="2400"/>
          </a:p>
          <a:p>
            <a:pPr marL="228600" lvl="0" indent="-50800" algn="l" rtl="0">
              <a:lnSpc>
                <a:spcPct val="120000"/>
              </a:lnSpc>
              <a:spcBef>
                <a:spcPts val="0"/>
              </a:spcBef>
              <a:spcAft>
                <a:spcPts val="0"/>
              </a:spcAft>
              <a:buClr>
                <a:schemeClr val="dk1"/>
              </a:buClr>
              <a:buSzPts val="2800"/>
              <a:buNone/>
            </a:pPr>
            <a:r>
              <a:rPr lang="en-US" sz="2400" b="1">
                <a:solidFill>
                  <a:schemeClr val="accent1"/>
                </a:solidFill>
              </a:rPr>
              <a:t>Contributions:</a:t>
            </a:r>
            <a:endParaRPr/>
          </a:p>
          <a:p>
            <a:pPr marL="520700" lvl="0" indent="-342900" algn="l" rtl="0">
              <a:lnSpc>
                <a:spcPct val="120000"/>
              </a:lnSpc>
              <a:spcBef>
                <a:spcPts val="0"/>
              </a:spcBef>
              <a:spcAft>
                <a:spcPts val="0"/>
              </a:spcAft>
              <a:buSzPts val="2800"/>
              <a:buChar char="•"/>
            </a:pPr>
            <a:r>
              <a:rPr lang="en-US" sz="2400" b="1"/>
              <a:t>Performance</a:t>
            </a:r>
            <a:r>
              <a:rPr lang="en-US" sz="2400"/>
              <a:t> comparison, and how to </a:t>
            </a:r>
            <a:r>
              <a:rPr lang="en-US" sz="2400" b="1"/>
              <a:t>improve their performance</a:t>
            </a:r>
            <a:endParaRPr/>
          </a:p>
          <a:p>
            <a:pPr marL="520700" lvl="0" indent="-342900" algn="l" rtl="0">
              <a:lnSpc>
                <a:spcPct val="120000"/>
              </a:lnSpc>
              <a:spcBef>
                <a:spcPts val="0"/>
              </a:spcBef>
              <a:spcAft>
                <a:spcPts val="0"/>
              </a:spcAft>
              <a:buSzPts val="2800"/>
              <a:buChar char="•"/>
            </a:pPr>
            <a:r>
              <a:rPr lang="en-US" sz="2400"/>
              <a:t>Relation between the </a:t>
            </a:r>
            <a:r>
              <a:rPr lang="en-US" sz="2400" b="1"/>
              <a:t>processing time and agent performance</a:t>
            </a:r>
            <a:endParaRPr/>
          </a:p>
          <a:p>
            <a:pPr marL="520700" lvl="0" indent="-342900" algn="l" rtl="0">
              <a:lnSpc>
                <a:spcPct val="120000"/>
              </a:lnSpc>
              <a:spcBef>
                <a:spcPts val="0"/>
              </a:spcBef>
              <a:spcAft>
                <a:spcPts val="0"/>
              </a:spcAft>
              <a:buSzPts val="2800"/>
              <a:buChar char="•"/>
            </a:pPr>
            <a:r>
              <a:rPr lang="en-US" sz="2400"/>
              <a:t>Effect of </a:t>
            </a:r>
            <a:r>
              <a:rPr lang="en-US" sz="2400" b="1"/>
              <a:t>playing order </a:t>
            </a:r>
            <a:r>
              <a:rPr lang="en-US" sz="2400"/>
              <a:t>on the agent </a:t>
            </a:r>
            <a:r>
              <a:rPr lang="en-US" sz="2400" b="1"/>
              <a:t>winning</a:t>
            </a:r>
            <a:endParaRPr/>
          </a:p>
          <a:p>
            <a:pPr marL="228600" lvl="0" indent="-50800" algn="l" rtl="0">
              <a:lnSpc>
                <a:spcPct val="90000"/>
              </a:lnSpc>
              <a:spcBef>
                <a:spcPts val="0"/>
              </a:spcBef>
              <a:spcAft>
                <a:spcPts val="0"/>
              </a:spcAft>
              <a:buClr>
                <a:schemeClr val="dk1"/>
              </a:buClr>
              <a:buSzPts val="2800"/>
              <a:buNone/>
            </a:pP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4"/>
                                        </p:tgtEl>
                                        <p:attrNameLst>
                                          <p:attrName>style.visibility</p:attrName>
                                        </p:attrNameLst>
                                      </p:cBhvr>
                                      <p:to>
                                        <p:strVal val="visible"/>
                                      </p:to>
                                    </p:set>
                                    <p:animEffect transition="in" filter="fade">
                                      <p:cBhvr>
                                        <p:cTn id="7" dur="1"/>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5"/>
          <p:cNvSpPr txBox="1">
            <a:spLocks noGrp="1"/>
          </p:cNvSpPr>
          <p:nvPr>
            <p:ph type="title"/>
          </p:nvPr>
        </p:nvSpPr>
        <p:spPr>
          <a:xfrm>
            <a:off x="838200" y="365125"/>
            <a:ext cx="10515600" cy="102635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F5496"/>
              </a:buClr>
              <a:buSzPts val="4400"/>
              <a:buFont typeface="Libre Franklin Medium"/>
              <a:buNone/>
            </a:pPr>
            <a:r>
              <a:rPr lang="en-US">
                <a:solidFill>
                  <a:srgbClr val="2F5496"/>
                </a:solidFill>
              </a:rPr>
              <a:t>AI Model(s)</a:t>
            </a:r>
            <a:endParaRPr/>
          </a:p>
        </p:txBody>
      </p:sp>
      <p:sp>
        <p:nvSpPr>
          <p:cNvPr id="62" name="Google Shape;62;p5"/>
          <p:cNvSpPr txBox="1"/>
          <p:nvPr/>
        </p:nvSpPr>
        <p:spPr>
          <a:xfrm>
            <a:off x="924201" y="1394400"/>
            <a:ext cx="5008500" cy="3740400"/>
          </a:xfrm>
          <a:prstGeom prst="rect">
            <a:avLst/>
          </a:prstGeom>
          <a:noFill/>
          <a:ln w="9525" cap="flat" cmpd="sng">
            <a:solidFill>
              <a:srgbClr val="4472C4"/>
            </a:solidFill>
            <a:prstDash val="solid"/>
            <a:round/>
            <a:headEnd type="none" w="sm" len="sm"/>
            <a:tailEnd type="none" w="sm" len="sm"/>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400" b="0" i="0" u="none" strike="noStrike" cap="none">
                <a:solidFill>
                  <a:schemeClr val="accent1"/>
                </a:solidFill>
                <a:latin typeface="Libre Franklin"/>
                <a:ea typeface="Libre Franklin"/>
                <a:cs typeface="Libre Franklin"/>
                <a:sym typeface="Libre Franklin"/>
              </a:rPr>
              <a:t>MinMax Algorithm</a:t>
            </a:r>
            <a:endParaRPr sz="1800" b="0" i="0" u="none" strike="noStrike" cap="none">
              <a:solidFill>
                <a:schemeClr val="accent1"/>
              </a:solidFill>
              <a:latin typeface="Calibri"/>
              <a:ea typeface="Calibri"/>
              <a:cs typeface="Calibri"/>
              <a:sym typeface="Calibri"/>
            </a:endParaRPr>
          </a:p>
          <a:p>
            <a:pPr marL="0" marR="0" lvl="0" indent="0" algn="l" rtl="0">
              <a:lnSpc>
                <a:spcPct val="100000"/>
              </a:lnSpc>
              <a:spcBef>
                <a:spcPts val="0"/>
              </a:spcBef>
              <a:spcAft>
                <a:spcPts val="0"/>
              </a:spcAft>
              <a:buNone/>
            </a:pPr>
            <a:br>
              <a:rPr lang="en-US" sz="1800" b="0" i="0" u="none" strike="noStrike" cap="none">
                <a:solidFill>
                  <a:srgbClr val="000000"/>
                </a:solidFill>
                <a:latin typeface="Calibri"/>
                <a:ea typeface="Calibri"/>
                <a:cs typeface="Calibri"/>
                <a:sym typeface="Calibri"/>
              </a:rPr>
            </a:br>
            <a:r>
              <a:rPr lang="en-US" sz="1900" b="0" i="0" u="none" strike="noStrike" cap="none">
                <a:solidFill>
                  <a:srgbClr val="000000"/>
                </a:solidFill>
                <a:latin typeface="Calibri"/>
                <a:ea typeface="Calibri"/>
                <a:cs typeface="Calibri"/>
                <a:sym typeface="Calibri"/>
              </a:rPr>
              <a:t>MinMax algorithm navigates through game tree, when it is MAX's turn, the algorithm selects the two moves leading to the highest minimax value, whereas MIN chooses two moves that result in the lowest minimax values.</a:t>
            </a:r>
            <a:endParaRPr sz="1500"/>
          </a:p>
          <a:p>
            <a:pPr marL="0" marR="0" lvl="0" indent="0" algn="just" rtl="0">
              <a:lnSpc>
                <a:spcPct val="100000"/>
              </a:lnSpc>
              <a:spcBef>
                <a:spcPts val="0"/>
              </a:spcBef>
              <a:spcAft>
                <a:spcPts val="0"/>
              </a:spcAft>
              <a:buNone/>
            </a:pPr>
            <a:r>
              <a:rPr lang="en-US" sz="1900" b="0" i="0" u="none" strike="noStrike" cap="none">
                <a:solidFill>
                  <a:srgbClr val="000000"/>
                </a:solidFill>
                <a:latin typeface="Calibri"/>
                <a:ea typeface="Calibri"/>
                <a:cs typeface="Calibri"/>
                <a:sym typeface="Calibri"/>
              </a:rPr>
              <a:t>Main difference of this modified version of the game is this strategic change of the game tree. Game tree becomes min, min, max, max instead of the traditional min max game tree</a:t>
            </a:r>
            <a:endParaRPr sz="1500"/>
          </a:p>
          <a:p>
            <a:pPr marL="0" marR="0" lvl="0" indent="0" algn="l" rtl="0">
              <a:lnSpc>
                <a:spcPct val="100000"/>
              </a:lnSpc>
              <a:spcBef>
                <a:spcPts val="0"/>
              </a:spcBef>
              <a:spcAft>
                <a:spcPts val="0"/>
              </a:spcAft>
              <a:buNone/>
            </a:pPr>
            <a:br>
              <a:rPr lang="en-US" sz="1200" b="0" i="0" u="none" strike="noStrike" cap="none">
                <a:solidFill>
                  <a:srgbClr val="000000"/>
                </a:solidFill>
                <a:latin typeface="Arial"/>
                <a:ea typeface="Arial"/>
                <a:cs typeface="Arial"/>
                <a:sym typeface="Arial"/>
              </a:rPr>
            </a:br>
            <a:endParaRPr sz="1200" b="0" i="0" u="none" strike="noStrike" cap="none">
              <a:solidFill>
                <a:srgbClr val="000000"/>
              </a:solidFill>
              <a:latin typeface="Arial"/>
              <a:ea typeface="Arial"/>
              <a:cs typeface="Arial"/>
              <a:sym typeface="Arial"/>
            </a:endParaRPr>
          </a:p>
        </p:txBody>
      </p:sp>
      <p:pic>
        <p:nvPicPr>
          <p:cNvPr id="63" name="Google Shape;63;p5"/>
          <p:cNvPicPr preferRelativeResize="0"/>
          <p:nvPr/>
        </p:nvPicPr>
        <p:blipFill rotWithShape="1">
          <a:blip r:embed="rId3">
            <a:alphaModFix/>
          </a:blip>
          <a:srcRect/>
          <a:stretch/>
        </p:blipFill>
        <p:spPr>
          <a:xfrm>
            <a:off x="6080675" y="1526550"/>
            <a:ext cx="5182050" cy="3608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7"/>
        <p:cNvGrpSpPr/>
        <p:nvPr/>
      </p:nvGrpSpPr>
      <p:grpSpPr>
        <a:xfrm>
          <a:off x="0" y="0"/>
          <a:ext cx="0" cy="0"/>
          <a:chOff x="0" y="0"/>
          <a:chExt cx="0" cy="0"/>
        </a:xfrm>
      </p:grpSpPr>
      <p:pic>
        <p:nvPicPr>
          <p:cNvPr id="68" name="Google Shape;68;p6"/>
          <p:cNvPicPr preferRelativeResize="0"/>
          <p:nvPr/>
        </p:nvPicPr>
        <p:blipFill rotWithShape="1">
          <a:blip r:embed="rId3">
            <a:alphaModFix/>
          </a:blip>
          <a:srcRect/>
          <a:stretch/>
        </p:blipFill>
        <p:spPr>
          <a:xfrm>
            <a:off x="351266" y="315951"/>
            <a:ext cx="8348541" cy="570570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8200" y="517525"/>
            <a:ext cx="10515600" cy="10263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E9FC3"/>
              </a:buClr>
              <a:buSzPts val="4400"/>
              <a:buFont typeface="Libre Franklin Medium"/>
              <a:buNone/>
            </a:pPr>
            <a:r>
              <a:rPr lang="en-US" sz="2400">
                <a:solidFill>
                  <a:schemeClr val="accent1"/>
                </a:solidFill>
                <a:latin typeface="Libre Franklin"/>
                <a:ea typeface="Libre Franklin"/>
                <a:cs typeface="Libre Franklin"/>
                <a:sym typeface="Libre Franklin"/>
              </a:rPr>
              <a:t>Minimax with Alpha Beta Pruning using a </a:t>
            </a:r>
            <a:r>
              <a:rPr lang="en-US" sz="2400" b="1">
                <a:solidFill>
                  <a:schemeClr val="accent1"/>
                </a:solidFill>
                <a:latin typeface="Libre Franklin"/>
                <a:ea typeface="Libre Franklin"/>
                <a:cs typeface="Libre Franklin"/>
                <a:sym typeface="Libre Franklin"/>
              </a:rPr>
              <a:t>basic heuristic </a:t>
            </a:r>
            <a:r>
              <a:rPr lang="en-US" sz="2400">
                <a:solidFill>
                  <a:schemeClr val="accent1"/>
                </a:solidFill>
                <a:latin typeface="Libre Franklin"/>
                <a:ea typeface="Libre Franklin"/>
                <a:cs typeface="Libre Franklin"/>
                <a:sym typeface="Libre Franklin"/>
              </a:rPr>
              <a:t>cutoff</a:t>
            </a:r>
            <a:endParaRPr>
              <a:solidFill>
                <a:schemeClr val="accent1"/>
              </a:solidFill>
            </a:endParaRPr>
          </a:p>
        </p:txBody>
      </p:sp>
      <p:sp>
        <p:nvSpPr>
          <p:cNvPr id="75" name="Google Shape;75;p15"/>
          <p:cNvSpPr txBox="1">
            <a:spLocks noGrp="1"/>
          </p:cNvSpPr>
          <p:nvPr>
            <p:ph type="body" idx="1"/>
          </p:nvPr>
        </p:nvSpPr>
        <p:spPr>
          <a:xfrm>
            <a:off x="838199" y="1252087"/>
            <a:ext cx="9889273" cy="1551633"/>
          </a:xfrm>
          <a:prstGeom prst="rect">
            <a:avLst/>
          </a:prstGeom>
          <a:noFill/>
          <a:ln>
            <a:noFill/>
          </a:ln>
        </p:spPr>
        <p:txBody>
          <a:bodyPr spcFirstLastPara="1" wrap="square" lIns="91425" tIns="45700" rIns="91425" bIns="45700" anchor="t" anchorCtr="0">
            <a:noAutofit/>
          </a:bodyPr>
          <a:lstStyle/>
          <a:p>
            <a:pPr marL="457200" marR="0" lvl="0" indent="-406400" algn="l" rtl="0">
              <a:lnSpc>
                <a:spcPct val="90000"/>
              </a:lnSpc>
              <a:spcBef>
                <a:spcPts val="1000"/>
              </a:spcBef>
              <a:spcAft>
                <a:spcPts val="0"/>
              </a:spcAft>
              <a:buClr>
                <a:schemeClr val="dk1"/>
              </a:buClr>
              <a:buSzPts val="2800"/>
              <a:buFont typeface="Arial"/>
              <a:buChar char="•"/>
            </a:pPr>
            <a:r>
              <a:rPr lang="en-US" sz="1800"/>
              <a:t>truncates the Minimax search early</a:t>
            </a:r>
            <a:endParaRPr/>
          </a:p>
          <a:p>
            <a:pPr marL="457200" marR="0" lvl="0" indent="-406400" algn="l" rtl="0">
              <a:lnSpc>
                <a:spcPct val="90000"/>
              </a:lnSpc>
              <a:spcBef>
                <a:spcPts val="1000"/>
              </a:spcBef>
              <a:spcAft>
                <a:spcPts val="0"/>
              </a:spcAft>
              <a:buClr>
                <a:schemeClr val="dk1"/>
              </a:buClr>
              <a:buSzPts val="2800"/>
              <a:buFont typeface="Arial"/>
              <a:buChar char="•"/>
            </a:pPr>
            <a:r>
              <a:rPr lang="en-US" sz="1800"/>
              <a:t>uses a heuristic evaluation function to approximate a state's utility</a:t>
            </a:r>
            <a:endParaRPr/>
          </a:p>
          <a:p>
            <a:pPr marL="457200" marR="0" lvl="0" indent="-406400" algn="l" rtl="0">
              <a:lnSpc>
                <a:spcPct val="90000"/>
              </a:lnSpc>
              <a:spcBef>
                <a:spcPts val="1000"/>
              </a:spcBef>
              <a:spcAft>
                <a:spcPts val="0"/>
              </a:spcAft>
              <a:buClr>
                <a:schemeClr val="dk1"/>
              </a:buClr>
              <a:buSzPts val="2800"/>
              <a:buFont typeface="Arial"/>
              <a:buChar char="•"/>
            </a:pPr>
            <a:r>
              <a:rPr lang="en-US" sz="1800"/>
              <a:t>evaluates the utility of a non-terminal state with a ‘basic’ heuristic that counts the number of empty squares as a proxy of how close we are to the end of the game</a:t>
            </a:r>
            <a:endParaRPr/>
          </a:p>
          <a:p>
            <a:pPr marL="50800" lvl="0" indent="0" algn="l" rtl="0">
              <a:lnSpc>
                <a:spcPct val="90000"/>
              </a:lnSpc>
              <a:spcBef>
                <a:spcPts val="1000"/>
              </a:spcBef>
              <a:spcAft>
                <a:spcPts val="0"/>
              </a:spcAft>
              <a:buSzPts val="2800"/>
              <a:buNone/>
            </a:pPr>
            <a:endParaRPr sz="1200">
              <a:latin typeface="Times New Roman"/>
              <a:ea typeface="Times New Roman"/>
              <a:cs typeface="Times New Roman"/>
              <a:sym typeface="Times New Roman"/>
            </a:endParaRPr>
          </a:p>
        </p:txBody>
      </p:sp>
      <p:sp>
        <p:nvSpPr>
          <p:cNvPr id="76" name="Google Shape;76;p15"/>
          <p:cNvSpPr txBox="1"/>
          <p:nvPr/>
        </p:nvSpPr>
        <p:spPr>
          <a:xfrm>
            <a:off x="841917" y="3032125"/>
            <a:ext cx="10515600" cy="10263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E9FC3"/>
              </a:buClr>
              <a:buSzPts val="4400"/>
              <a:buFont typeface="Libre Franklin Medium"/>
              <a:buNone/>
            </a:pPr>
            <a:r>
              <a:rPr lang="en-US" sz="2400" b="0" i="0" u="none" strike="noStrike" cap="none">
                <a:solidFill>
                  <a:schemeClr val="accent1"/>
                </a:solidFill>
                <a:latin typeface="Libre Franklin"/>
                <a:ea typeface="Libre Franklin"/>
                <a:cs typeface="Libre Franklin"/>
                <a:sym typeface="Libre Franklin"/>
              </a:rPr>
              <a:t>Minimax with Alpha Beta Pruning using a </a:t>
            </a:r>
            <a:r>
              <a:rPr lang="en-US" sz="2400" b="1" i="0" u="none" strike="noStrike" cap="none">
                <a:solidFill>
                  <a:schemeClr val="accent1"/>
                </a:solidFill>
                <a:latin typeface="Libre Franklin"/>
                <a:ea typeface="Libre Franklin"/>
                <a:cs typeface="Libre Franklin"/>
                <a:sym typeface="Libre Franklin"/>
              </a:rPr>
              <a:t>Monte Carlo heuristic </a:t>
            </a:r>
            <a:r>
              <a:rPr lang="en-US" sz="2400" b="0" i="0" u="none" strike="noStrike" cap="none">
                <a:solidFill>
                  <a:schemeClr val="accent1"/>
                </a:solidFill>
                <a:latin typeface="Libre Franklin"/>
                <a:ea typeface="Libre Franklin"/>
                <a:cs typeface="Libre Franklin"/>
                <a:sym typeface="Libre Franklin"/>
              </a:rPr>
              <a:t>cutoff</a:t>
            </a:r>
            <a:endParaRPr sz="4400" b="0" i="0" u="none" strike="noStrike" cap="none">
              <a:solidFill>
                <a:schemeClr val="accent1"/>
              </a:solidFill>
              <a:latin typeface="Libre Franklin Medium"/>
              <a:ea typeface="Libre Franklin Medium"/>
              <a:cs typeface="Libre Franklin Medium"/>
              <a:sym typeface="Libre Franklin Medium"/>
            </a:endParaRPr>
          </a:p>
        </p:txBody>
      </p:sp>
      <p:sp>
        <p:nvSpPr>
          <p:cNvPr id="78" name="Google Shape;78;p15"/>
          <p:cNvSpPr txBox="1"/>
          <p:nvPr/>
        </p:nvSpPr>
        <p:spPr>
          <a:xfrm>
            <a:off x="834483" y="3727745"/>
            <a:ext cx="9889273" cy="1551633"/>
          </a:xfrm>
          <a:prstGeom prst="rect">
            <a:avLst/>
          </a:prstGeom>
          <a:noFill/>
          <a:ln>
            <a:noFill/>
          </a:ln>
        </p:spPr>
        <p:txBody>
          <a:bodyPr spcFirstLastPara="1" wrap="square" lIns="91425" tIns="45700" rIns="91425" bIns="45700" anchor="t" anchorCtr="0">
            <a:noAutofit/>
          </a:bodyPr>
          <a:lstStyle/>
          <a:p>
            <a:pPr marL="457200" marR="0" lvl="0" indent="-406400" algn="l" rtl="0">
              <a:lnSpc>
                <a:spcPct val="90000"/>
              </a:lnSpc>
              <a:spcBef>
                <a:spcPts val="1000"/>
              </a:spcBef>
              <a:spcAft>
                <a:spcPts val="0"/>
              </a:spcAft>
              <a:buClr>
                <a:schemeClr val="dk1"/>
              </a:buClr>
              <a:buSzPts val="2800"/>
              <a:buFont typeface="Arial"/>
              <a:buChar char="•"/>
            </a:pPr>
            <a:r>
              <a:rPr lang="en-US" sz="1800" b="0" i="0" u="none" strike="noStrike" cap="none">
                <a:solidFill>
                  <a:schemeClr val="dk1"/>
                </a:solidFill>
                <a:latin typeface="Libre Franklin"/>
                <a:ea typeface="Libre Franklin"/>
                <a:cs typeface="Libre Franklin"/>
                <a:sym typeface="Libre Franklin"/>
              </a:rPr>
              <a:t>evaluates the utility of a non-terminal state using Monte Carlo simulation; the idea is to estimate how good a certain game state is by simulating random plays from that state multiple times. </a:t>
            </a:r>
            <a:endParaRPr sz="1800" b="0" i="0" u="none" strike="noStrike" cap="none">
              <a:solidFill>
                <a:schemeClr val="dk1"/>
              </a:solidFill>
              <a:latin typeface="Libre Franklin"/>
              <a:ea typeface="Libre Franklin"/>
              <a:cs typeface="Libre Franklin"/>
              <a:sym typeface="Libre Franklin"/>
            </a:endParaRPr>
          </a:p>
          <a:p>
            <a:pPr marL="457200" marR="0" lvl="0" indent="-406400" algn="just" rtl="0">
              <a:lnSpc>
                <a:spcPct val="90000"/>
              </a:lnSpc>
              <a:spcBef>
                <a:spcPts val="1000"/>
              </a:spcBef>
              <a:spcAft>
                <a:spcPts val="0"/>
              </a:spcAft>
              <a:buClr>
                <a:schemeClr val="dk1"/>
              </a:buClr>
              <a:buSzPts val="2800"/>
              <a:buFont typeface="Arial"/>
              <a:buChar char="•"/>
            </a:pPr>
            <a:r>
              <a:rPr lang="en-US" sz="1800" b="0" i="0" u="none" strike="noStrike" cap="none">
                <a:solidFill>
                  <a:schemeClr val="dk1"/>
                </a:solidFill>
                <a:latin typeface="Libre Franklin"/>
                <a:ea typeface="Libre Franklin"/>
                <a:cs typeface="Libre Franklin"/>
                <a:sym typeface="Libre Franklin"/>
              </a:rPr>
              <a:t>works by repeatedly picking two random legal moves, applying them and updating the game state, until a terminal state is reached or there are fewer than two legal moves.</a:t>
            </a:r>
            <a:endParaRPr sz="1800" b="0" i="0" u="none" strike="noStrike" cap="none">
              <a:solidFill>
                <a:schemeClr val="dk1"/>
              </a:solidFill>
              <a:latin typeface="Libre Franklin"/>
              <a:ea typeface="Libre Franklin"/>
              <a:cs typeface="Libre Franklin"/>
              <a:sym typeface="Libre Franklin"/>
            </a:endParaRPr>
          </a:p>
          <a:p>
            <a:pPr marL="50800" marR="0" lvl="0" indent="0" algn="l" rtl="0">
              <a:lnSpc>
                <a:spcPct val="90000"/>
              </a:lnSpc>
              <a:spcBef>
                <a:spcPts val="1000"/>
              </a:spcBef>
              <a:spcAft>
                <a:spcPts val="0"/>
              </a:spcAft>
              <a:buClr>
                <a:schemeClr val="dk1"/>
              </a:buClr>
              <a:buSzPts val="2800"/>
              <a:buFont typeface="Arial"/>
              <a:buNone/>
            </a:pPr>
            <a:endParaRPr sz="1200" b="0" i="0" u="none" strike="noStrike" cap="none">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8"/>
          <p:cNvSpPr txBox="1">
            <a:spLocks noGrp="1"/>
          </p:cNvSpPr>
          <p:nvPr>
            <p:ph type="title"/>
          </p:nvPr>
        </p:nvSpPr>
        <p:spPr>
          <a:xfrm>
            <a:off x="838200" y="365125"/>
            <a:ext cx="10515600" cy="1026353"/>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E9FC3"/>
              </a:buClr>
              <a:buSzPts val="4400"/>
              <a:buFont typeface="Libre Franklin Medium"/>
              <a:buNone/>
            </a:pPr>
            <a:r>
              <a:rPr lang="en-US" sz="3500" b="1">
                <a:solidFill>
                  <a:schemeClr val="accent1"/>
                </a:solidFill>
                <a:latin typeface="Libre Franklin"/>
                <a:ea typeface="Libre Franklin"/>
                <a:cs typeface="Libre Franklin"/>
                <a:sym typeface="Libre Franklin"/>
              </a:rPr>
              <a:t>Greedy </a:t>
            </a:r>
            <a:r>
              <a:rPr lang="en-US" sz="3500">
                <a:solidFill>
                  <a:schemeClr val="accent1"/>
                </a:solidFill>
                <a:latin typeface="Libre Franklin"/>
                <a:ea typeface="Libre Franklin"/>
                <a:cs typeface="Libre Franklin"/>
                <a:sym typeface="Libre Franklin"/>
              </a:rPr>
              <a:t>Algorithm</a:t>
            </a:r>
            <a:endParaRPr sz="5500"/>
          </a:p>
        </p:txBody>
      </p:sp>
      <p:sp>
        <p:nvSpPr>
          <p:cNvPr id="84" name="Google Shape;84;p8"/>
          <p:cNvSpPr txBox="1">
            <a:spLocks noGrp="1"/>
          </p:cNvSpPr>
          <p:nvPr>
            <p:ph type="body" idx="1"/>
          </p:nvPr>
        </p:nvSpPr>
        <p:spPr>
          <a:xfrm>
            <a:off x="838199" y="1391478"/>
            <a:ext cx="10515599" cy="4785485"/>
          </a:xfrm>
          <a:prstGeom prst="rect">
            <a:avLst/>
          </a:prstGeom>
          <a:noFill/>
          <a:ln>
            <a:noFill/>
          </a:ln>
        </p:spPr>
        <p:txBody>
          <a:bodyPr spcFirstLastPara="1" wrap="square" lIns="91425" tIns="45700" rIns="91425" bIns="45700" anchor="t" anchorCtr="0">
            <a:noAutofit/>
          </a:bodyPr>
          <a:lstStyle/>
          <a:p>
            <a:pPr marL="463550" lvl="0" indent="-298450" algn="l" rtl="0">
              <a:lnSpc>
                <a:spcPct val="100000"/>
              </a:lnSpc>
              <a:spcBef>
                <a:spcPts val="0"/>
              </a:spcBef>
              <a:spcAft>
                <a:spcPts val="0"/>
              </a:spcAft>
              <a:buSzPts val="3000"/>
              <a:buChar char="•"/>
            </a:pPr>
            <a:r>
              <a:rPr lang="en-US" sz="2000"/>
              <a:t>designed to find a solution in the shortest possible time by selecting the option that appears most optimal at each step, without considering the overall or future impact of those decisions</a:t>
            </a:r>
            <a:endParaRPr sz="3000"/>
          </a:p>
          <a:p>
            <a:pPr marL="177800" lvl="0" indent="0" algn="l" rtl="0">
              <a:lnSpc>
                <a:spcPct val="100000"/>
              </a:lnSpc>
              <a:spcBef>
                <a:spcPts val="0"/>
              </a:spcBef>
              <a:spcAft>
                <a:spcPts val="0"/>
              </a:spcAft>
              <a:buSzPts val="2800"/>
              <a:buNone/>
            </a:pPr>
            <a:endParaRPr sz="2000"/>
          </a:p>
          <a:p>
            <a:pPr marL="463550" lvl="0" indent="-298450" algn="l" rtl="0">
              <a:lnSpc>
                <a:spcPct val="100000"/>
              </a:lnSpc>
              <a:spcBef>
                <a:spcPts val="0"/>
              </a:spcBef>
              <a:spcAft>
                <a:spcPts val="0"/>
              </a:spcAft>
              <a:buSzPts val="3000"/>
              <a:buChar char="•"/>
            </a:pPr>
            <a:r>
              <a:rPr lang="en-US" sz="2000"/>
              <a:t>selects each step based on a specific evaluation criterion, typically aiming to maximize immediate gain or minimize immediate cost</a:t>
            </a:r>
            <a:endParaRPr sz="3000"/>
          </a:p>
          <a:p>
            <a:pPr marL="177800" lvl="0" indent="0" algn="l" rtl="0">
              <a:lnSpc>
                <a:spcPct val="100000"/>
              </a:lnSpc>
              <a:spcBef>
                <a:spcPts val="0"/>
              </a:spcBef>
              <a:spcAft>
                <a:spcPts val="0"/>
              </a:spcAft>
              <a:buSzPts val="2800"/>
              <a:buNone/>
            </a:pPr>
            <a:endParaRPr sz="2000"/>
          </a:p>
          <a:p>
            <a:pPr marL="463550" lvl="0" indent="-298450" algn="l" rtl="0">
              <a:lnSpc>
                <a:spcPct val="100000"/>
              </a:lnSpc>
              <a:spcBef>
                <a:spcPts val="0"/>
              </a:spcBef>
              <a:spcAft>
                <a:spcPts val="0"/>
              </a:spcAft>
              <a:buSzPts val="3000"/>
              <a:buChar char="•"/>
            </a:pPr>
            <a:r>
              <a:rPr lang="en-US" sz="2000"/>
              <a:t>However, it does not backtrack or consider the broader consequences of each decision, which may lead to suboptimal global results</a:t>
            </a:r>
            <a:endParaRPr sz="20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9"/>
          <p:cNvSpPr txBox="1">
            <a:spLocks noGrp="1"/>
          </p:cNvSpPr>
          <p:nvPr>
            <p:ph type="title"/>
          </p:nvPr>
        </p:nvSpPr>
        <p:spPr>
          <a:xfrm>
            <a:off x="838200" y="365125"/>
            <a:ext cx="10515600" cy="102635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F5496"/>
              </a:buClr>
              <a:buSzPts val="4400"/>
              <a:buFont typeface="Libre Franklin Medium"/>
              <a:buNone/>
            </a:pPr>
            <a:r>
              <a:rPr lang="en-US">
                <a:solidFill>
                  <a:srgbClr val="2F5496"/>
                </a:solidFill>
              </a:rPr>
              <a:t>Discussion of Results</a:t>
            </a:r>
            <a:endParaRPr/>
          </a:p>
        </p:txBody>
      </p:sp>
      <p:sp>
        <p:nvSpPr>
          <p:cNvPr id="91" name="Google Shape;91;p9"/>
          <p:cNvSpPr txBox="1"/>
          <p:nvPr/>
        </p:nvSpPr>
        <p:spPr>
          <a:xfrm>
            <a:off x="1092825" y="1391475"/>
            <a:ext cx="10515600" cy="26475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400">
                <a:solidFill>
                  <a:schemeClr val="accent1"/>
                </a:solidFill>
                <a:latin typeface="Libre Franklin"/>
                <a:ea typeface="Libre Franklin"/>
                <a:cs typeface="Libre Franklin"/>
                <a:sym typeface="Libre Franklin"/>
              </a:rPr>
              <a:t>1. </a:t>
            </a:r>
            <a:r>
              <a:rPr lang="en-US" sz="2400" b="1">
                <a:solidFill>
                  <a:schemeClr val="accent1"/>
                </a:solidFill>
                <a:latin typeface="Libre Franklin"/>
                <a:ea typeface="Libre Franklin"/>
                <a:cs typeface="Libre Franklin"/>
                <a:sym typeface="Libre Franklin"/>
              </a:rPr>
              <a:t>Search Algorithm Player </a:t>
            </a:r>
            <a:r>
              <a:rPr lang="en-US" sz="2400">
                <a:solidFill>
                  <a:schemeClr val="accent1"/>
                </a:solidFill>
                <a:latin typeface="Libre Franklin"/>
                <a:ea typeface="Libre Franklin"/>
                <a:cs typeface="Libre Franklin"/>
                <a:sym typeface="Libre Franklin"/>
              </a:rPr>
              <a:t>vs </a:t>
            </a:r>
            <a:r>
              <a:rPr lang="en-US" sz="2400" b="1">
                <a:solidFill>
                  <a:schemeClr val="accent1"/>
                </a:solidFill>
                <a:latin typeface="Libre Franklin"/>
                <a:ea typeface="Libre Franklin"/>
                <a:cs typeface="Libre Franklin"/>
                <a:sym typeface="Libre Franklin"/>
              </a:rPr>
              <a:t>Random Player</a:t>
            </a:r>
            <a:endParaRPr sz="2500" b="1" i="0" u="sng" strike="noStrike" cap="none">
              <a:solidFill>
                <a:srgbClr val="000000"/>
              </a:solidFill>
              <a:latin typeface="Libre Franklin"/>
              <a:ea typeface="Libre Franklin"/>
              <a:cs typeface="Libre Franklin"/>
              <a:sym typeface="Libre Franklin"/>
            </a:endParaRPr>
          </a:p>
          <a:p>
            <a:pPr marL="0" marR="0" lvl="0" indent="0" algn="l" rtl="0">
              <a:lnSpc>
                <a:spcPct val="100000"/>
              </a:lnSpc>
              <a:spcBef>
                <a:spcPts val="0"/>
              </a:spcBef>
              <a:spcAft>
                <a:spcPts val="0"/>
              </a:spcAft>
              <a:buClr>
                <a:srgbClr val="000000"/>
              </a:buClr>
              <a:buSzPts val="1000"/>
              <a:buFont typeface="Arial"/>
              <a:buNone/>
            </a:pPr>
            <a:endParaRPr sz="1000" b="0" i="0" u="sng" strike="noStrike" cap="none">
              <a:solidFill>
                <a:srgbClr val="000000"/>
              </a:solidFill>
              <a:latin typeface="Libre Franklin"/>
              <a:ea typeface="Libre Franklin"/>
              <a:cs typeface="Libre Franklin"/>
              <a:sym typeface="Libre Franklin"/>
            </a:endParaRPr>
          </a:p>
          <a:p>
            <a:pPr marL="457200" marR="0" lvl="0" indent="-361950" algn="l" rtl="0">
              <a:lnSpc>
                <a:spcPct val="100000"/>
              </a:lnSpc>
              <a:spcBef>
                <a:spcPts val="0"/>
              </a:spcBef>
              <a:spcAft>
                <a:spcPts val="0"/>
              </a:spcAft>
              <a:buClr>
                <a:srgbClr val="000000"/>
              </a:buClr>
              <a:buSzPts val="2100"/>
              <a:buFont typeface="Libre Franklin"/>
              <a:buChar char="●"/>
            </a:pPr>
            <a:r>
              <a:rPr lang="en-US" sz="2100" b="0" i="0" u="none" strike="noStrike" cap="none">
                <a:solidFill>
                  <a:srgbClr val="000000"/>
                </a:solidFill>
                <a:latin typeface="Libre Franklin"/>
                <a:ea typeface="Libre Franklin"/>
                <a:cs typeface="Libre Franklin"/>
                <a:sym typeface="Libre Franklin"/>
              </a:rPr>
              <a:t>Using a search algorithm consistently has a higher chance of winning</a:t>
            </a:r>
            <a:endParaRPr sz="2100" b="0" i="0" u="none" strike="noStrike" cap="none">
              <a:solidFill>
                <a:srgbClr val="000000"/>
              </a:solidFill>
              <a:latin typeface="Libre Franklin"/>
              <a:ea typeface="Libre Franklin"/>
              <a:cs typeface="Libre Franklin"/>
              <a:sym typeface="Libre Franklin"/>
            </a:endParaRPr>
          </a:p>
          <a:p>
            <a:pPr marL="457200" marR="0" lvl="0" indent="-361950" algn="l" rtl="0">
              <a:lnSpc>
                <a:spcPct val="100000"/>
              </a:lnSpc>
              <a:spcBef>
                <a:spcPts val="0"/>
              </a:spcBef>
              <a:spcAft>
                <a:spcPts val="0"/>
              </a:spcAft>
              <a:buClr>
                <a:srgbClr val="000000"/>
              </a:buClr>
              <a:buSzPts val="2100"/>
              <a:buFont typeface="Libre Franklin"/>
              <a:buChar char="●"/>
            </a:pPr>
            <a:r>
              <a:rPr lang="en-US" sz="2100" b="0" i="0" u="none" strike="noStrike" cap="none">
                <a:solidFill>
                  <a:srgbClr val="000000"/>
                </a:solidFill>
                <a:latin typeface="Libre Franklin"/>
                <a:ea typeface="Libre Franklin"/>
                <a:cs typeface="Libre Franklin"/>
                <a:sym typeface="Libre Franklin"/>
              </a:rPr>
              <a:t>MMAB-MC has the highest win rate at 60%</a:t>
            </a:r>
            <a:endParaRPr sz="2100" b="0" i="0" u="none" strike="noStrike" cap="none">
              <a:solidFill>
                <a:srgbClr val="000000"/>
              </a:solidFill>
              <a:latin typeface="Libre Franklin"/>
              <a:ea typeface="Libre Franklin"/>
              <a:cs typeface="Libre Franklin"/>
              <a:sym typeface="Libre Franklin"/>
            </a:endParaRPr>
          </a:p>
          <a:p>
            <a:pPr marL="457200" marR="0" lvl="0" indent="-361950" algn="l" rtl="0">
              <a:lnSpc>
                <a:spcPct val="100000"/>
              </a:lnSpc>
              <a:spcBef>
                <a:spcPts val="0"/>
              </a:spcBef>
              <a:spcAft>
                <a:spcPts val="0"/>
              </a:spcAft>
              <a:buClr>
                <a:srgbClr val="000000"/>
              </a:buClr>
              <a:buSzPts val="2100"/>
              <a:buFont typeface="Libre Franklin"/>
              <a:buChar char="●"/>
            </a:pPr>
            <a:r>
              <a:rPr lang="en-US" sz="2100" b="0" i="0" u="none" strike="noStrike" cap="none">
                <a:solidFill>
                  <a:srgbClr val="000000"/>
                </a:solidFill>
                <a:latin typeface="Libre Franklin"/>
                <a:ea typeface="Libre Franklin"/>
                <a:cs typeface="Libre Franklin"/>
                <a:sym typeface="Libre Franklin"/>
              </a:rPr>
              <a:t>Draw percentages range from 40% to 80%</a:t>
            </a:r>
            <a:endParaRPr sz="2100" b="0" i="0" u="none" strike="noStrike" cap="none">
              <a:solidFill>
                <a:srgbClr val="000000"/>
              </a:solidFill>
              <a:latin typeface="Libre Franklin"/>
              <a:ea typeface="Libre Franklin"/>
              <a:cs typeface="Libre Franklin"/>
              <a:sym typeface="Libre Franklin"/>
            </a:endParaRPr>
          </a:p>
          <a:p>
            <a:pPr marL="457200" marR="0" lvl="0" indent="-361950" algn="l" rtl="0">
              <a:lnSpc>
                <a:spcPct val="100000"/>
              </a:lnSpc>
              <a:spcBef>
                <a:spcPts val="0"/>
              </a:spcBef>
              <a:spcAft>
                <a:spcPts val="0"/>
              </a:spcAft>
              <a:buClr>
                <a:srgbClr val="000000"/>
              </a:buClr>
              <a:buSzPts val="2100"/>
              <a:buFont typeface="Libre Franklin"/>
              <a:buChar char="●"/>
            </a:pPr>
            <a:r>
              <a:rPr lang="en-US" sz="2100" b="0" i="0" u="none" strike="noStrike" cap="none">
                <a:solidFill>
                  <a:srgbClr val="000000"/>
                </a:solidFill>
                <a:latin typeface="Libre Franklin"/>
                <a:ea typeface="Libre Franklin"/>
                <a:cs typeface="Libre Franklin"/>
                <a:sym typeface="Libre Franklin"/>
              </a:rPr>
              <a:t>Greedy algorithm is the fastest, due to its nature</a:t>
            </a:r>
            <a:endParaRPr sz="2100" b="0" i="0" u="none" strike="noStrike" cap="none">
              <a:solidFill>
                <a:srgbClr val="000000"/>
              </a:solidFill>
              <a:latin typeface="Libre Franklin"/>
              <a:ea typeface="Libre Franklin"/>
              <a:cs typeface="Libre Franklin"/>
              <a:sym typeface="Libre Franklin"/>
            </a:endParaRPr>
          </a:p>
          <a:p>
            <a:pPr marL="457200" marR="0" lvl="0" indent="-361950" algn="l" rtl="0">
              <a:lnSpc>
                <a:spcPct val="100000"/>
              </a:lnSpc>
              <a:spcBef>
                <a:spcPts val="0"/>
              </a:spcBef>
              <a:spcAft>
                <a:spcPts val="0"/>
              </a:spcAft>
              <a:buClr>
                <a:srgbClr val="000000"/>
              </a:buClr>
              <a:buSzPts val="2100"/>
              <a:buFont typeface="Libre Franklin"/>
              <a:buChar char="●"/>
            </a:pPr>
            <a:r>
              <a:rPr lang="en-US" sz="2100" b="0" i="0" u="none" strike="noStrike" cap="none">
                <a:solidFill>
                  <a:srgbClr val="000000"/>
                </a:solidFill>
                <a:latin typeface="Libre Franklin"/>
                <a:ea typeface="Libre Franklin"/>
                <a:cs typeface="Libre Franklin"/>
                <a:sym typeface="Libre Franklin"/>
              </a:rPr>
              <a:t>MMAB-MC is 1.4 times slower than MMAB-B</a:t>
            </a:r>
            <a:endParaRPr sz="2100" b="0" i="0" u="none" strike="noStrike" cap="none">
              <a:solidFill>
                <a:srgbClr val="000000"/>
              </a:solidFill>
              <a:latin typeface="Libre Franklin"/>
              <a:ea typeface="Libre Franklin"/>
              <a:cs typeface="Libre Franklin"/>
              <a:sym typeface="Libre Franklin"/>
            </a:endParaRPr>
          </a:p>
          <a:p>
            <a:pPr marL="457200" marR="0" lvl="0" indent="-361950" algn="l" rtl="0">
              <a:lnSpc>
                <a:spcPct val="100000"/>
              </a:lnSpc>
              <a:spcBef>
                <a:spcPts val="0"/>
              </a:spcBef>
              <a:spcAft>
                <a:spcPts val="0"/>
              </a:spcAft>
              <a:buClr>
                <a:srgbClr val="000000"/>
              </a:buClr>
              <a:buSzPts val="2100"/>
              <a:buFont typeface="Libre Franklin"/>
              <a:buChar char="●"/>
            </a:pPr>
            <a:r>
              <a:rPr lang="en-US" sz="2100" b="0" i="0" u="none" strike="noStrike" cap="none">
                <a:solidFill>
                  <a:srgbClr val="000000"/>
                </a:solidFill>
                <a:latin typeface="Libre Franklin"/>
                <a:ea typeface="Libre Franklin"/>
                <a:cs typeface="Libre Franklin"/>
                <a:sym typeface="Libre Franklin"/>
              </a:rPr>
              <a:t>Worst combination of time complexity and winning outcome is for MMAB-B</a:t>
            </a:r>
            <a:endParaRPr sz="2500" b="0" i="0" u="sng" strike="noStrike" cap="none">
              <a:solidFill>
                <a:srgbClr val="000000"/>
              </a:solidFill>
              <a:latin typeface="Libre Franklin"/>
              <a:ea typeface="Libre Franklin"/>
              <a:cs typeface="Libre Franklin"/>
              <a:sym typeface="Libre Franklin"/>
            </a:endParaRPr>
          </a:p>
        </p:txBody>
      </p:sp>
      <p:pic>
        <p:nvPicPr>
          <p:cNvPr id="92" name="Google Shape;92;p9"/>
          <p:cNvPicPr preferRelativeResize="0"/>
          <p:nvPr/>
        </p:nvPicPr>
        <p:blipFill rotWithShape="1">
          <a:blip r:embed="rId3">
            <a:alphaModFix/>
          </a:blip>
          <a:srcRect/>
          <a:stretch/>
        </p:blipFill>
        <p:spPr>
          <a:xfrm>
            <a:off x="1226900" y="4183575"/>
            <a:ext cx="10499065" cy="1026350"/>
          </a:xfrm>
          <a:prstGeom prst="rect">
            <a:avLst/>
          </a:prstGeom>
          <a:noFill/>
          <a:ln>
            <a:noFill/>
          </a:ln>
        </p:spPr>
      </p:pic>
      <p:pic>
        <p:nvPicPr>
          <p:cNvPr id="93" name="Google Shape;93;p9"/>
          <p:cNvPicPr preferRelativeResize="0"/>
          <p:nvPr/>
        </p:nvPicPr>
        <p:blipFill rotWithShape="1">
          <a:blip r:embed="rId4">
            <a:alphaModFix/>
          </a:blip>
          <a:srcRect l="12597" t="12021" r="12896" b="8725"/>
          <a:stretch/>
        </p:blipFill>
        <p:spPr>
          <a:xfrm>
            <a:off x="10884092" y="183825"/>
            <a:ext cx="1086033" cy="12076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sp>
        <p:nvSpPr>
          <p:cNvPr id="99" name="Google Shape;99;p10"/>
          <p:cNvSpPr txBox="1">
            <a:spLocks noGrp="1"/>
          </p:cNvSpPr>
          <p:nvPr>
            <p:ph type="title"/>
          </p:nvPr>
        </p:nvSpPr>
        <p:spPr>
          <a:xfrm>
            <a:off x="838200" y="365125"/>
            <a:ext cx="10515600" cy="1026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F5496"/>
              </a:buClr>
              <a:buSzPts val="4400"/>
              <a:buFont typeface="Libre Franklin Medium"/>
              <a:buNone/>
            </a:pPr>
            <a:r>
              <a:rPr lang="en-US">
                <a:solidFill>
                  <a:srgbClr val="2F5496"/>
                </a:solidFill>
              </a:rPr>
              <a:t>Discussion of Results</a:t>
            </a:r>
            <a:endParaRPr/>
          </a:p>
        </p:txBody>
      </p:sp>
      <p:sp>
        <p:nvSpPr>
          <p:cNvPr id="100" name="Google Shape;100;p10"/>
          <p:cNvSpPr txBox="1"/>
          <p:nvPr/>
        </p:nvSpPr>
        <p:spPr>
          <a:xfrm>
            <a:off x="1092825" y="1391475"/>
            <a:ext cx="10981500" cy="26475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400">
                <a:solidFill>
                  <a:schemeClr val="accent1"/>
                </a:solidFill>
                <a:latin typeface="Libre Franklin"/>
                <a:ea typeface="Libre Franklin"/>
                <a:cs typeface="Libre Franklin"/>
                <a:sym typeface="Libre Franklin"/>
              </a:rPr>
              <a:t>2.</a:t>
            </a:r>
            <a:r>
              <a:rPr lang="en-US" sz="2400" b="1">
                <a:solidFill>
                  <a:schemeClr val="accent1"/>
                </a:solidFill>
                <a:latin typeface="Libre Franklin"/>
                <a:ea typeface="Libre Franklin"/>
                <a:cs typeface="Libre Franklin"/>
                <a:sym typeface="Libre Franklin"/>
              </a:rPr>
              <a:t> Random Player </a:t>
            </a:r>
            <a:r>
              <a:rPr lang="en-US" sz="2400">
                <a:solidFill>
                  <a:schemeClr val="accent1"/>
                </a:solidFill>
                <a:latin typeface="Libre Franklin"/>
                <a:ea typeface="Libre Franklin"/>
                <a:cs typeface="Libre Franklin"/>
                <a:sym typeface="Libre Franklin"/>
              </a:rPr>
              <a:t>vs</a:t>
            </a:r>
            <a:r>
              <a:rPr lang="en-US" sz="2400" b="1">
                <a:solidFill>
                  <a:schemeClr val="accent1"/>
                </a:solidFill>
                <a:latin typeface="Libre Franklin"/>
                <a:ea typeface="Libre Franklin"/>
                <a:cs typeface="Libre Franklin"/>
                <a:sym typeface="Libre Franklin"/>
              </a:rPr>
              <a:t> Search Algorithm Player</a:t>
            </a:r>
            <a:endParaRPr sz="2400" b="1">
              <a:solidFill>
                <a:schemeClr val="accent1"/>
              </a:solidFill>
              <a:latin typeface="Libre Franklin"/>
              <a:ea typeface="Libre Franklin"/>
              <a:cs typeface="Libre Franklin"/>
              <a:sym typeface="Libre Franklin"/>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Libre Franklin"/>
              <a:ea typeface="Libre Franklin"/>
              <a:cs typeface="Libre Franklin"/>
              <a:sym typeface="Libre Franklin"/>
            </a:endParaRPr>
          </a:p>
          <a:p>
            <a:pPr marL="457200" marR="0" lvl="0" indent="-361950" algn="l" rtl="0">
              <a:lnSpc>
                <a:spcPct val="100000"/>
              </a:lnSpc>
              <a:spcBef>
                <a:spcPts val="0"/>
              </a:spcBef>
              <a:spcAft>
                <a:spcPts val="0"/>
              </a:spcAft>
              <a:buClr>
                <a:srgbClr val="000000"/>
              </a:buClr>
              <a:buSzPts val="2100"/>
              <a:buFont typeface="Libre Franklin"/>
              <a:buChar char="●"/>
            </a:pPr>
            <a:r>
              <a:rPr lang="en-US" sz="2100" b="0" i="0" u="none" strike="noStrike" cap="none">
                <a:solidFill>
                  <a:srgbClr val="000000"/>
                </a:solidFill>
                <a:latin typeface="Libre Franklin"/>
                <a:ea typeface="Libre Franklin"/>
                <a:cs typeface="Libre Franklin"/>
                <a:sym typeface="Libre Franklin"/>
              </a:rPr>
              <a:t>Same results for both MMAB-B and MMAB-MC</a:t>
            </a:r>
            <a:endParaRPr sz="2100" b="0" i="0" u="none" strike="noStrike" cap="none">
              <a:solidFill>
                <a:srgbClr val="000000"/>
              </a:solidFill>
              <a:latin typeface="Libre Franklin"/>
              <a:ea typeface="Libre Franklin"/>
              <a:cs typeface="Libre Franklin"/>
              <a:sym typeface="Libre Franklin"/>
            </a:endParaRPr>
          </a:p>
          <a:p>
            <a:pPr marL="457200" marR="0" lvl="0" indent="-361950" algn="l" rtl="0">
              <a:lnSpc>
                <a:spcPct val="100000"/>
              </a:lnSpc>
              <a:spcBef>
                <a:spcPts val="0"/>
              </a:spcBef>
              <a:spcAft>
                <a:spcPts val="0"/>
              </a:spcAft>
              <a:buClr>
                <a:srgbClr val="000000"/>
              </a:buClr>
              <a:buSzPts val="2100"/>
              <a:buFont typeface="Libre Franklin"/>
              <a:buChar char="●"/>
            </a:pPr>
            <a:r>
              <a:rPr lang="en-US" sz="2100" b="0" i="0" u="none" strike="noStrike" cap="none">
                <a:solidFill>
                  <a:srgbClr val="000000"/>
                </a:solidFill>
                <a:latin typeface="Libre Franklin"/>
                <a:ea typeface="Libre Franklin"/>
                <a:cs typeface="Libre Franklin"/>
                <a:sym typeface="Libre Franklin"/>
              </a:rPr>
              <a:t>Greedy: 0% chance of winning, with all the games ending in draw</a:t>
            </a:r>
            <a:endParaRPr sz="2100" b="0" i="0" u="none" strike="noStrike" cap="none">
              <a:solidFill>
                <a:srgbClr val="000000"/>
              </a:solidFill>
              <a:latin typeface="Libre Franklin"/>
              <a:ea typeface="Libre Franklin"/>
              <a:cs typeface="Libre Franklin"/>
              <a:sym typeface="Libre Franklin"/>
            </a:endParaRPr>
          </a:p>
          <a:p>
            <a:pPr marL="457200" marR="0" lvl="0" indent="-361950" algn="l" rtl="0">
              <a:lnSpc>
                <a:spcPct val="100000"/>
              </a:lnSpc>
              <a:spcBef>
                <a:spcPts val="0"/>
              </a:spcBef>
              <a:spcAft>
                <a:spcPts val="0"/>
              </a:spcAft>
              <a:buClr>
                <a:srgbClr val="000000"/>
              </a:buClr>
              <a:buSzPts val="2100"/>
              <a:buFont typeface="Libre Franklin"/>
              <a:buChar char="●"/>
            </a:pPr>
            <a:r>
              <a:rPr lang="en-US" sz="2100" b="0" i="0" u="none" strike="noStrike" cap="none">
                <a:solidFill>
                  <a:srgbClr val="000000"/>
                </a:solidFill>
                <a:latin typeface="Libre Franklin"/>
                <a:ea typeface="Libre Franklin"/>
                <a:cs typeface="Libre Franklin"/>
                <a:sym typeface="Libre Franklin"/>
              </a:rPr>
              <a:t>Greedy is the fastest, </a:t>
            </a:r>
            <a:r>
              <a:rPr lang="en-US" sz="2100" b="0" i="1" u="none" strike="noStrike" cap="none">
                <a:solidFill>
                  <a:srgbClr val="000000"/>
                </a:solidFill>
                <a:latin typeface="Libre Franklin"/>
                <a:ea typeface="Libre Franklin"/>
                <a:cs typeface="Libre Franklin"/>
                <a:sym typeface="Libre Franklin"/>
              </a:rPr>
              <a:t>as expected</a:t>
            </a:r>
            <a:endParaRPr sz="2100" b="0" i="0" u="none" strike="noStrike" cap="none">
              <a:solidFill>
                <a:srgbClr val="000000"/>
              </a:solidFill>
              <a:latin typeface="Libre Franklin"/>
              <a:ea typeface="Libre Franklin"/>
              <a:cs typeface="Libre Franklin"/>
              <a:sym typeface="Libre Franklin"/>
            </a:endParaRPr>
          </a:p>
          <a:p>
            <a:pPr marL="457200" marR="0" lvl="0" indent="-361950" algn="l" rtl="0">
              <a:lnSpc>
                <a:spcPct val="100000"/>
              </a:lnSpc>
              <a:spcBef>
                <a:spcPts val="0"/>
              </a:spcBef>
              <a:spcAft>
                <a:spcPts val="0"/>
              </a:spcAft>
              <a:buClr>
                <a:srgbClr val="000000"/>
              </a:buClr>
              <a:buSzPts val="2100"/>
              <a:buFont typeface="Libre Franklin"/>
              <a:buChar char="●"/>
            </a:pPr>
            <a:r>
              <a:rPr lang="en-US" sz="2100" b="0" i="0" u="none" strike="noStrike" cap="none">
                <a:solidFill>
                  <a:srgbClr val="000000"/>
                </a:solidFill>
                <a:latin typeface="Libre Franklin"/>
                <a:ea typeface="Libre Franklin"/>
                <a:cs typeface="Libre Franklin"/>
                <a:sym typeface="Libre Franklin"/>
              </a:rPr>
              <a:t>The time needed is shorter when the Search Algorithm plays second, </a:t>
            </a:r>
            <a:r>
              <a:rPr lang="en-US" sz="2100" b="0" i="1" u="none" strike="noStrike" cap="none">
                <a:solidFill>
                  <a:srgbClr val="000000"/>
                </a:solidFill>
                <a:latin typeface="Libre Franklin"/>
                <a:ea typeface="Libre Franklin"/>
                <a:cs typeface="Libre Franklin"/>
                <a:sym typeface="Libre Franklin"/>
              </a:rPr>
              <a:t>as expected</a:t>
            </a:r>
            <a:endParaRPr sz="2100" b="0" i="0" u="none" strike="noStrike" cap="none">
              <a:solidFill>
                <a:srgbClr val="000000"/>
              </a:solidFill>
              <a:latin typeface="Libre Franklin"/>
              <a:ea typeface="Libre Franklin"/>
              <a:cs typeface="Libre Franklin"/>
              <a:sym typeface="Libre Franklin"/>
            </a:endParaRPr>
          </a:p>
          <a:p>
            <a:pPr marL="457200" marR="0" lvl="0" indent="-361950" algn="l" rtl="0">
              <a:lnSpc>
                <a:spcPct val="100000"/>
              </a:lnSpc>
              <a:spcBef>
                <a:spcPts val="0"/>
              </a:spcBef>
              <a:spcAft>
                <a:spcPts val="0"/>
              </a:spcAft>
              <a:buClr>
                <a:srgbClr val="000000"/>
              </a:buClr>
              <a:buSzPts val="2100"/>
              <a:buFont typeface="Libre Franklin"/>
              <a:buChar char="●"/>
            </a:pPr>
            <a:r>
              <a:rPr lang="en-US" sz="2100" b="0" i="0" u="none" strike="noStrike" cap="none">
                <a:solidFill>
                  <a:srgbClr val="000000"/>
                </a:solidFill>
                <a:latin typeface="Libre Franklin"/>
                <a:ea typeface="Libre Franklin"/>
                <a:cs typeface="Libre Franklin"/>
                <a:sym typeface="Libre Franklin"/>
              </a:rPr>
              <a:t>First mover advantage for Greedy</a:t>
            </a:r>
            <a:endParaRPr sz="2100" b="0" i="0" u="none" strike="noStrike" cap="none">
              <a:solidFill>
                <a:srgbClr val="000000"/>
              </a:solidFill>
              <a:latin typeface="Libre Franklin"/>
              <a:ea typeface="Libre Franklin"/>
              <a:cs typeface="Libre Franklin"/>
              <a:sym typeface="Libre Franklin"/>
            </a:endParaRPr>
          </a:p>
          <a:p>
            <a:pPr marL="0" marR="0" lvl="0" indent="0" algn="l" rtl="0">
              <a:lnSpc>
                <a:spcPct val="100000"/>
              </a:lnSpc>
              <a:spcBef>
                <a:spcPts val="0"/>
              </a:spcBef>
              <a:spcAft>
                <a:spcPts val="0"/>
              </a:spcAft>
              <a:buClr>
                <a:srgbClr val="000000"/>
              </a:buClr>
              <a:buSzPts val="2100"/>
              <a:buFont typeface="Arial"/>
              <a:buNone/>
            </a:pPr>
            <a:endParaRPr sz="2100" b="0" i="0" u="none" strike="noStrike" cap="none">
              <a:solidFill>
                <a:srgbClr val="000000"/>
              </a:solidFill>
              <a:latin typeface="Libre Franklin"/>
              <a:ea typeface="Libre Franklin"/>
              <a:cs typeface="Libre Franklin"/>
              <a:sym typeface="Libre Franklin"/>
            </a:endParaRPr>
          </a:p>
        </p:txBody>
      </p:sp>
      <p:pic>
        <p:nvPicPr>
          <p:cNvPr id="101" name="Google Shape;101;p10"/>
          <p:cNvPicPr preferRelativeResize="0"/>
          <p:nvPr/>
        </p:nvPicPr>
        <p:blipFill rotWithShape="1">
          <a:blip r:embed="rId3">
            <a:alphaModFix/>
          </a:blip>
          <a:srcRect l="12597" t="12021" r="12896" b="8725"/>
          <a:stretch/>
        </p:blipFill>
        <p:spPr>
          <a:xfrm>
            <a:off x="10884092" y="183825"/>
            <a:ext cx="1086033" cy="1207650"/>
          </a:xfrm>
          <a:prstGeom prst="rect">
            <a:avLst/>
          </a:prstGeom>
          <a:noFill/>
          <a:ln>
            <a:noFill/>
          </a:ln>
        </p:spPr>
      </p:pic>
      <p:pic>
        <p:nvPicPr>
          <p:cNvPr id="102" name="Google Shape;102;p10"/>
          <p:cNvPicPr preferRelativeResize="0"/>
          <p:nvPr/>
        </p:nvPicPr>
        <p:blipFill rotWithShape="1">
          <a:blip r:embed="rId4">
            <a:alphaModFix/>
          </a:blip>
          <a:srcRect/>
          <a:stretch/>
        </p:blipFill>
        <p:spPr>
          <a:xfrm>
            <a:off x="1226900" y="4183575"/>
            <a:ext cx="10498550" cy="10263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6"/>
          <p:cNvSpPr txBox="1">
            <a:spLocks noGrp="1"/>
          </p:cNvSpPr>
          <p:nvPr>
            <p:ph type="title"/>
          </p:nvPr>
        </p:nvSpPr>
        <p:spPr>
          <a:xfrm>
            <a:off x="838200" y="365125"/>
            <a:ext cx="10515600" cy="102630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F5496"/>
              </a:buClr>
              <a:buSzPts val="4400"/>
              <a:buFont typeface="Libre Franklin Medium"/>
              <a:buNone/>
            </a:pPr>
            <a:r>
              <a:rPr lang="en-US">
                <a:solidFill>
                  <a:srgbClr val="2F5496"/>
                </a:solidFill>
              </a:rPr>
              <a:t>Discussion of Results</a:t>
            </a:r>
            <a:endParaRPr/>
          </a:p>
        </p:txBody>
      </p:sp>
      <p:sp>
        <p:nvSpPr>
          <p:cNvPr id="109" name="Google Shape;109;p16"/>
          <p:cNvSpPr txBox="1"/>
          <p:nvPr/>
        </p:nvSpPr>
        <p:spPr>
          <a:xfrm>
            <a:off x="1092825" y="1391475"/>
            <a:ext cx="10134600" cy="2001000"/>
          </a:xfrm>
          <a:prstGeom prst="rect">
            <a:avLst/>
          </a:prstGeom>
          <a:noFill/>
          <a:ln>
            <a:noFill/>
          </a:ln>
        </p:spPr>
        <p:txBody>
          <a:bodyPr spcFirstLastPara="1" wrap="square" lIns="91425" tIns="91425" rIns="91425" bIns="91425" anchor="ctr" anchorCtr="0">
            <a:spAutoFit/>
          </a:bodyPr>
          <a:lstStyle/>
          <a:p>
            <a:pPr marL="0" marR="0" lvl="0" indent="0" algn="l" rtl="0">
              <a:lnSpc>
                <a:spcPct val="100000"/>
              </a:lnSpc>
              <a:spcBef>
                <a:spcPts val="0"/>
              </a:spcBef>
              <a:spcAft>
                <a:spcPts val="0"/>
              </a:spcAft>
              <a:buClr>
                <a:srgbClr val="000000"/>
              </a:buClr>
              <a:buSzPts val="2500"/>
              <a:buFont typeface="Arial"/>
              <a:buNone/>
            </a:pPr>
            <a:r>
              <a:rPr lang="en-US" sz="2400">
                <a:solidFill>
                  <a:schemeClr val="accent1"/>
                </a:solidFill>
                <a:latin typeface="Libre Franklin"/>
                <a:ea typeface="Libre Franklin"/>
                <a:cs typeface="Libre Franklin"/>
                <a:sym typeface="Libre Franklin"/>
              </a:rPr>
              <a:t>3. </a:t>
            </a:r>
            <a:r>
              <a:rPr lang="en-US" sz="2400" b="1">
                <a:solidFill>
                  <a:schemeClr val="accent1"/>
                </a:solidFill>
                <a:latin typeface="Libre Franklin"/>
                <a:ea typeface="Libre Franklin"/>
                <a:cs typeface="Libre Franklin"/>
                <a:sym typeface="Libre Franklin"/>
              </a:rPr>
              <a:t>MMAB-MC Player</a:t>
            </a:r>
            <a:r>
              <a:rPr lang="en-US" sz="2400">
                <a:solidFill>
                  <a:schemeClr val="accent1"/>
                </a:solidFill>
                <a:latin typeface="Libre Franklin"/>
                <a:ea typeface="Libre Franklin"/>
                <a:cs typeface="Libre Franklin"/>
                <a:sym typeface="Libre Franklin"/>
              </a:rPr>
              <a:t> vs </a:t>
            </a:r>
            <a:r>
              <a:rPr lang="en-US" sz="2400" b="1">
                <a:solidFill>
                  <a:schemeClr val="accent1"/>
                </a:solidFill>
                <a:latin typeface="Libre Franklin"/>
                <a:ea typeface="Libre Franklin"/>
                <a:cs typeface="Libre Franklin"/>
                <a:sym typeface="Libre Franklin"/>
              </a:rPr>
              <a:t>Greedy Player</a:t>
            </a:r>
            <a:endParaRPr sz="2500" b="1" i="0" u="sng" strike="noStrike" cap="none">
              <a:solidFill>
                <a:srgbClr val="000000"/>
              </a:solidFill>
              <a:latin typeface="Libre Franklin"/>
              <a:ea typeface="Libre Franklin"/>
              <a:cs typeface="Libre Franklin"/>
              <a:sym typeface="Libre Franklin"/>
            </a:endParaRPr>
          </a:p>
          <a:p>
            <a:pPr marL="0" marR="0" lvl="0" indent="0" algn="l" rtl="0">
              <a:lnSpc>
                <a:spcPct val="100000"/>
              </a:lnSpc>
              <a:spcBef>
                <a:spcPts val="0"/>
              </a:spcBef>
              <a:spcAft>
                <a:spcPts val="0"/>
              </a:spcAft>
              <a:buClr>
                <a:srgbClr val="000000"/>
              </a:buClr>
              <a:buSzPts val="1000"/>
              <a:buFont typeface="Arial"/>
              <a:buNone/>
            </a:pPr>
            <a:endParaRPr sz="1000" b="0" i="0" u="none" strike="noStrike" cap="none">
              <a:solidFill>
                <a:srgbClr val="000000"/>
              </a:solidFill>
              <a:latin typeface="Libre Franklin"/>
              <a:ea typeface="Libre Franklin"/>
              <a:cs typeface="Libre Franklin"/>
              <a:sym typeface="Libre Franklin"/>
            </a:endParaRPr>
          </a:p>
          <a:p>
            <a:pPr marL="457200" marR="0" lvl="0" indent="-361950" algn="l" rtl="0">
              <a:lnSpc>
                <a:spcPct val="100000"/>
              </a:lnSpc>
              <a:spcBef>
                <a:spcPts val="0"/>
              </a:spcBef>
              <a:spcAft>
                <a:spcPts val="0"/>
              </a:spcAft>
              <a:buClr>
                <a:srgbClr val="000000"/>
              </a:buClr>
              <a:buSzPts val="2100"/>
              <a:buFont typeface="Libre Franklin"/>
              <a:buChar char="●"/>
            </a:pPr>
            <a:r>
              <a:rPr lang="en-US" sz="2100" b="0" i="0" u="none" strike="noStrike" cap="none">
                <a:solidFill>
                  <a:srgbClr val="000000"/>
                </a:solidFill>
                <a:latin typeface="Libre Franklin"/>
                <a:ea typeface="Libre Franklin"/>
                <a:cs typeface="Libre Franklin"/>
                <a:sym typeface="Libre Franklin"/>
              </a:rPr>
              <a:t>Expectation that as the depth increases for the search algorithm, the chance to win also increases</a:t>
            </a:r>
            <a:endParaRPr sz="2100" b="0" i="0" u="none" strike="noStrike" cap="none">
              <a:solidFill>
                <a:srgbClr val="000000"/>
              </a:solidFill>
              <a:latin typeface="Libre Franklin"/>
              <a:ea typeface="Libre Franklin"/>
              <a:cs typeface="Libre Franklin"/>
              <a:sym typeface="Libre Franklin"/>
            </a:endParaRPr>
          </a:p>
          <a:p>
            <a:pPr marL="457200" marR="0" lvl="0" indent="-361950" algn="l" rtl="0">
              <a:lnSpc>
                <a:spcPct val="100000"/>
              </a:lnSpc>
              <a:spcBef>
                <a:spcPts val="0"/>
              </a:spcBef>
              <a:spcAft>
                <a:spcPts val="0"/>
              </a:spcAft>
              <a:buClr>
                <a:srgbClr val="000000"/>
              </a:buClr>
              <a:buSzPts val="2100"/>
              <a:buFont typeface="Libre Franklin"/>
              <a:buChar char="●"/>
            </a:pPr>
            <a:r>
              <a:rPr lang="en-US" sz="2100" b="0" i="0" u="none" strike="noStrike" cap="none">
                <a:solidFill>
                  <a:srgbClr val="000000"/>
                </a:solidFill>
                <a:latin typeface="Libre Franklin"/>
                <a:ea typeface="Libre Franklin"/>
                <a:cs typeface="Libre Franklin"/>
                <a:sym typeface="Libre Franklin"/>
              </a:rPr>
              <a:t>Potentially low number of total games (ie. 5)</a:t>
            </a:r>
            <a:endParaRPr sz="2100" b="0" i="0" u="none" strike="noStrike" cap="none">
              <a:solidFill>
                <a:srgbClr val="000000"/>
              </a:solidFill>
              <a:latin typeface="Libre Franklin"/>
              <a:ea typeface="Libre Franklin"/>
              <a:cs typeface="Libre Franklin"/>
              <a:sym typeface="Libre Franklin"/>
            </a:endParaRPr>
          </a:p>
          <a:p>
            <a:pPr marL="457200" marR="0" lvl="0" indent="-361950" algn="l" rtl="0">
              <a:lnSpc>
                <a:spcPct val="100000"/>
              </a:lnSpc>
              <a:spcBef>
                <a:spcPts val="0"/>
              </a:spcBef>
              <a:spcAft>
                <a:spcPts val="0"/>
              </a:spcAft>
              <a:buClr>
                <a:srgbClr val="000000"/>
              </a:buClr>
              <a:buSzPts val="2100"/>
              <a:buFont typeface="Libre Franklin"/>
              <a:buChar char="●"/>
            </a:pPr>
            <a:r>
              <a:rPr lang="en-US" sz="2100" b="0" i="0" u="none" strike="noStrike" cap="none">
                <a:solidFill>
                  <a:srgbClr val="000000"/>
                </a:solidFill>
                <a:latin typeface="Libre Franklin"/>
                <a:ea typeface="Libre Franklin"/>
                <a:cs typeface="Libre Franklin"/>
                <a:sym typeface="Libre Franklin"/>
              </a:rPr>
              <a:t>First mover advantage insight for Greedy confirmed</a:t>
            </a:r>
            <a:endParaRPr sz="2100" b="0" i="0" u="none" strike="noStrike" cap="none">
              <a:solidFill>
                <a:srgbClr val="000000"/>
              </a:solidFill>
              <a:latin typeface="Libre Franklin"/>
              <a:ea typeface="Libre Franklin"/>
              <a:cs typeface="Libre Franklin"/>
              <a:sym typeface="Libre Franklin"/>
            </a:endParaRPr>
          </a:p>
        </p:txBody>
      </p:sp>
      <p:pic>
        <p:nvPicPr>
          <p:cNvPr id="110" name="Google Shape;110;p16"/>
          <p:cNvPicPr preferRelativeResize="0"/>
          <p:nvPr/>
        </p:nvPicPr>
        <p:blipFill rotWithShape="1">
          <a:blip r:embed="rId3">
            <a:alphaModFix/>
          </a:blip>
          <a:srcRect l="12597" t="12021" r="12896" b="8725"/>
          <a:stretch/>
        </p:blipFill>
        <p:spPr>
          <a:xfrm>
            <a:off x="10884092" y="183825"/>
            <a:ext cx="1086033" cy="1207650"/>
          </a:xfrm>
          <a:prstGeom prst="rect">
            <a:avLst/>
          </a:prstGeom>
          <a:noFill/>
          <a:ln>
            <a:noFill/>
          </a:ln>
        </p:spPr>
      </p:pic>
      <p:pic>
        <p:nvPicPr>
          <p:cNvPr id="111" name="Google Shape;111;p16"/>
          <p:cNvPicPr preferRelativeResize="0"/>
          <p:nvPr/>
        </p:nvPicPr>
        <p:blipFill rotWithShape="1">
          <a:blip r:embed="rId4">
            <a:alphaModFix/>
          </a:blip>
          <a:srcRect/>
          <a:stretch/>
        </p:blipFill>
        <p:spPr>
          <a:xfrm>
            <a:off x="1226900" y="3577550"/>
            <a:ext cx="10597749" cy="18172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17"/>
          <p:cNvSpPr txBox="1">
            <a:spLocks noGrp="1"/>
          </p:cNvSpPr>
          <p:nvPr>
            <p:ph type="title"/>
          </p:nvPr>
        </p:nvSpPr>
        <p:spPr>
          <a:xfrm>
            <a:off x="838200" y="365125"/>
            <a:ext cx="10515600" cy="1026353"/>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2F5496"/>
              </a:buClr>
              <a:buSzPts val="4400"/>
              <a:buFont typeface="Libre Franklin Medium"/>
              <a:buNone/>
            </a:pPr>
            <a:r>
              <a:rPr lang="en-US">
                <a:solidFill>
                  <a:srgbClr val="2F5496"/>
                </a:solidFill>
              </a:rPr>
              <a:t>Conclusion</a:t>
            </a:r>
            <a:endParaRPr/>
          </a:p>
        </p:txBody>
      </p:sp>
      <p:sp>
        <p:nvSpPr>
          <p:cNvPr id="118" name="Google Shape;118;p17"/>
          <p:cNvSpPr txBox="1">
            <a:spLocks noGrp="1"/>
          </p:cNvSpPr>
          <p:nvPr>
            <p:ph type="body" idx="1"/>
          </p:nvPr>
        </p:nvSpPr>
        <p:spPr>
          <a:xfrm>
            <a:off x="838200" y="1637425"/>
            <a:ext cx="10765500" cy="4785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400" b="1">
                <a:solidFill>
                  <a:schemeClr val="accent1"/>
                </a:solidFill>
              </a:rPr>
              <a:t>Performance Comparison: </a:t>
            </a:r>
            <a:endParaRPr sz="2100"/>
          </a:p>
          <a:p>
            <a:pPr marL="457200" marR="0" lvl="0" indent="-361950" algn="l" rtl="0">
              <a:lnSpc>
                <a:spcPct val="100000"/>
              </a:lnSpc>
              <a:spcBef>
                <a:spcPts val="0"/>
              </a:spcBef>
              <a:spcAft>
                <a:spcPts val="0"/>
              </a:spcAft>
              <a:buSzPts val="2100"/>
              <a:buChar char="•"/>
            </a:pPr>
            <a:r>
              <a:rPr lang="en-US" sz="2100"/>
              <a:t>MMAB-MC performed best</a:t>
            </a:r>
            <a:endParaRPr sz="2100"/>
          </a:p>
          <a:p>
            <a:pPr marL="0" marR="0" lvl="0" indent="0" algn="l" rtl="0">
              <a:lnSpc>
                <a:spcPct val="100000"/>
              </a:lnSpc>
              <a:spcBef>
                <a:spcPts val="0"/>
              </a:spcBef>
              <a:spcAft>
                <a:spcPts val="0"/>
              </a:spcAft>
              <a:buSzPts val="2800"/>
              <a:buNone/>
            </a:pPr>
            <a:endParaRPr sz="2100"/>
          </a:p>
          <a:p>
            <a:pPr marL="0" marR="0" lvl="0" indent="0" algn="l" rtl="0">
              <a:lnSpc>
                <a:spcPct val="100000"/>
              </a:lnSpc>
              <a:spcBef>
                <a:spcPts val="0"/>
              </a:spcBef>
              <a:spcAft>
                <a:spcPts val="0"/>
              </a:spcAft>
              <a:buSzPts val="2800"/>
              <a:buNone/>
            </a:pPr>
            <a:r>
              <a:rPr lang="en-US" sz="2400" b="1">
                <a:solidFill>
                  <a:schemeClr val="accent1"/>
                </a:solidFill>
              </a:rPr>
              <a:t>Relation between processing time and performance: </a:t>
            </a:r>
            <a:endParaRPr sz="2100"/>
          </a:p>
          <a:p>
            <a:pPr marL="457200" marR="0" lvl="0" indent="-361950" algn="l" rtl="0">
              <a:lnSpc>
                <a:spcPct val="100000"/>
              </a:lnSpc>
              <a:spcBef>
                <a:spcPts val="0"/>
              </a:spcBef>
              <a:spcAft>
                <a:spcPts val="0"/>
              </a:spcAft>
              <a:buSzPts val="2100"/>
              <a:buChar char="•"/>
            </a:pPr>
            <a:r>
              <a:rPr lang="en-US" sz="2100"/>
              <a:t>MMAB-MC is the slowest, Greedy is the fastest</a:t>
            </a:r>
            <a:endParaRPr sz="2100"/>
          </a:p>
          <a:p>
            <a:pPr marL="457200" marR="0" lvl="0" indent="-361950" algn="l" rtl="0">
              <a:lnSpc>
                <a:spcPct val="100000"/>
              </a:lnSpc>
              <a:spcBef>
                <a:spcPts val="0"/>
              </a:spcBef>
              <a:spcAft>
                <a:spcPts val="0"/>
              </a:spcAft>
              <a:buSzPts val="2100"/>
              <a:buChar char="•"/>
            </a:pPr>
            <a:r>
              <a:rPr lang="en-US" sz="2100"/>
              <a:t>processing time decreases substantially, when AI agents played second</a:t>
            </a:r>
            <a:endParaRPr sz="2100"/>
          </a:p>
          <a:p>
            <a:pPr marL="0" marR="0" lvl="0" indent="0" algn="l" rtl="0">
              <a:lnSpc>
                <a:spcPct val="100000"/>
              </a:lnSpc>
              <a:spcBef>
                <a:spcPts val="0"/>
              </a:spcBef>
              <a:spcAft>
                <a:spcPts val="0"/>
              </a:spcAft>
              <a:buSzPts val="2800"/>
              <a:buNone/>
            </a:pPr>
            <a:endParaRPr sz="2100"/>
          </a:p>
          <a:p>
            <a:pPr marL="0" marR="0" lvl="0" indent="0" algn="l" rtl="0">
              <a:lnSpc>
                <a:spcPct val="100000"/>
              </a:lnSpc>
              <a:spcBef>
                <a:spcPts val="0"/>
              </a:spcBef>
              <a:spcAft>
                <a:spcPts val="0"/>
              </a:spcAft>
              <a:buSzPts val="2800"/>
              <a:buNone/>
            </a:pPr>
            <a:r>
              <a:rPr lang="en-US" sz="2400" b="1">
                <a:solidFill>
                  <a:schemeClr val="accent1"/>
                </a:solidFill>
              </a:rPr>
              <a:t>Effect of Search Depth:</a:t>
            </a:r>
            <a:r>
              <a:rPr lang="en-US" sz="2100"/>
              <a:t> small number of games simulated to get concrete results</a:t>
            </a:r>
            <a:endParaRPr sz="2100"/>
          </a:p>
          <a:p>
            <a:pPr marL="0" marR="0" lvl="0" indent="0" algn="l" rtl="0">
              <a:lnSpc>
                <a:spcPct val="100000"/>
              </a:lnSpc>
              <a:spcBef>
                <a:spcPts val="0"/>
              </a:spcBef>
              <a:spcAft>
                <a:spcPts val="0"/>
              </a:spcAft>
              <a:buSzPts val="2800"/>
              <a:buNone/>
            </a:pPr>
            <a:endParaRPr sz="2100"/>
          </a:p>
          <a:p>
            <a:pPr marL="0" marR="0" lvl="0" indent="0" algn="l" rtl="0">
              <a:lnSpc>
                <a:spcPct val="100000"/>
              </a:lnSpc>
              <a:spcBef>
                <a:spcPts val="0"/>
              </a:spcBef>
              <a:spcAft>
                <a:spcPts val="0"/>
              </a:spcAft>
              <a:buSzPts val="2800"/>
              <a:buNone/>
            </a:pPr>
            <a:r>
              <a:rPr lang="en-US" sz="2400" b="1">
                <a:solidFill>
                  <a:schemeClr val="accent1"/>
                </a:solidFill>
              </a:rPr>
              <a:t>Impact of Player Order:</a:t>
            </a:r>
            <a:r>
              <a:rPr lang="en-US" sz="2100"/>
              <a:t> when the Greedy algorithm moved first, it had a higher winning rate</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23"/>
        <p:cNvGrpSpPr/>
        <p:nvPr/>
      </p:nvGrpSpPr>
      <p:grpSpPr>
        <a:xfrm>
          <a:off x="0" y="0"/>
          <a:ext cx="0" cy="0"/>
          <a:chOff x="0" y="0"/>
          <a:chExt cx="0" cy="0"/>
        </a:xfrm>
      </p:grpSpPr>
      <p:sp>
        <p:nvSpPr>
          <p:cNvPr id="124" name="Google Shape;124;p18"/>
          <p:cNvSpPr txBox="1">
            <a:spLocks noGrp="1"/>
          </p:cNvSpPr>
          <p:nvPr>
            <p:ph type="title"/>
          </p:nvPr>
        </p:nvSpPr>
        <p:spPr>
          <a:xfrm>
            <a:off x="3355577" y="2377546"/>
            <a:ext cx="4669800" cy="1507500"/>
          </a:xfrm>
          <a:prstGeom prst="rect">
            <a:avLst/>
          </a:prstGeom>
          <a:noFill/>
          <a:ln>
            <a:noFill/>
          </a:ln>
        </p:spPr>
        <p:txBody>
          <a:bodyPr spcFirstLastPara="1" wrap="square" lIns="91425" tIns="45700" rIns="91425" bIns="45700" anchor="t" anchorCtr="0">
            <a:noAutofit/>
          </a:bodyPr>
          <a:lstStyle/>
          <a:p>
            <a:pPr marL="0" marR="0" lvl="0" indent="0" algn="l" rtl="0">
              <a:lnSpc>
                <a:spcPct val="90000"/>
              </a:lnSpc>
              <a:spcBef>
                <a:spcPts val="0"/>
              </a:spcBef>
              <a:spcAft>
                <a:spcPts val="0"/>
              </a:spcAft>
              <a:buClr>
                <a:srgbClr val="234078"/>
              </a:buClr>
              <a:buSzPts val="4400"/>
              <a:buFont typeface="Libre Franklin Medium"/>
              <a:buNone/>
            </a:pPr>
            <a:r>
              <a:rPr lang="en-US" sz="6900" b="1">
                <a:solidFill>
                  <a:schemeClr val="accent1"/>
                </a:solidFill>
                <a:latin typeface="Libre Franklin"/>
                <a:ea typeface="Libre Franklin"/>
                <a:cs typeface="Libre Franklin"/>
                <a:sym typeface="Libre Franklin"/>
              </a:rPr>
              <a:t>Thank you</a:t>
            </a:r>
            <a:endParaRPr sz="8900"/>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808</Words>
  <Application>Microsoft Office PowerPoint</Application>
  <PresentationFormat>Widescreen</PresentationFormat>
  <Paragraphs>90</Paragraphs>
  <Slides>14</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Libre Franklin</vt:lpstr>
      <vt:lpstr>Calibri</vt:lpstr>
      <vt:lpstr>Times New Roman</vt:lpstr>
      <vt:lpstr>Libre Franklin Medium</vt:lpstr>
      <vt:lpstr>Office Theme</vt:lpstr>
      <vt:lpstr>Tic-Tac-Toe 5x5 Board with Two Consecutive Moves Each</vt:lpstr>
      <vt:lpstr>Modified Tic-Tac-Toe</vt:lpstr>
      <vt:lpstr>Objectives</vt:lpstr>
      <vt:lpstr>Context and Challenges</vt:lpstr>
      <vt:lpstr>Solution and Contributions</vt:lpstr>
      <vt:lpstr>AI Model(s)</vt:lpstr>
      <vt:lpstr>PowerPoint Presentation</vt:lpstr>
      <vt:lpstr>Minimax with Alpha Beta Pruning using a basic heuristic cutoff</vt:lpstr>
      <vt:lpstr>Greedy Algorithm</vt:lpstr>
      <vt:lpstr>Discussion of Results</vt:lpstr>
      <vt:lpstr>Discussion of Results</vt:lpstr>
      <vt:lpstr>Discussion of Results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Youakim BADR</dc:creator>
  <cp:lastModifiedBy>Paparsenou, Kate</cp:lastModifiedBy>
  <cp:revision>1</cp:revision>
  <dcterms:created xsi:type="dcterms:W3CDTF">2018-11-27T04:22:11Z</dcterms:created>
  <dcterms:modified xsi:type="dcterms:W3CDTF">2025-05-02T15:57:19Z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0x01010001FD6FD5C8CA00459FBD25FEFA681B53</vt:lpwstr>
  </property>
  <property fmtid="{D5CDD505-2E9C-101B-9397-08002B2CF9AE}" pid="3" name="MSIP_Label_84725270-1a60-4239-bd3a-1f77246ba1b1_Enabled">
    <vt:lpwstr>true</vt:lpwstr>
  </property>
  <property fmtid="{D5CDD505-2E9C-101B-9397-08002B2CF9AE}" pid="4" name="MSIP_Label_84725270-1a60-4239-bd3a-1f77246ba1b1_SetDate">
    <vt:lpwstr>2025-05-01T04:55:10Z</vt:lpwstr>
  </property>
  <property fmtid="{D5CDD505-2E9C-101B-9397-08002B2CF9AE}" pid="5" name="MSIP_Label_84725270-1a60-4239-bd3a-1f77246ba1b1_Method">
    <vt:lpwstr>Standard</vt:lpwstr>
  </property>
  <property fmtid="{D5CDD505-2E9C-101B-9397-08002B2CF9AE}" pid="6" name="MSIP_Label_84725270-1a60-4239-bd3a-1f77246ba1b1_Name">
    <vt:lpwstr>Vanguard Internal Use Only</vt:lpwstr>
  </property>
  <property fmtid="{D5CDD505-2E9C-101B-9397-08002B2CF9AE}" pid="7" name="MSIP_Label_84725270-1a60-4239-bd3a-1f77246ba1b1_SiteId">
    <vt:lpwstr>d3a74ac8-efe4-4fe8-b707-b1bf8c6a25bd</vt:lpwstr>
  </property>
  <property fmtid="{D5CDD505-2E9C-101B-9397-08002B2CF9AE}" pid="8" name="MSIP_Label_84725270-1a60-4239-bd3a-1f77246ba1b1_ActionId">
    <vt:lpwstr>4ae6bd13-a434-417f-a2e0-8ddadbddaecb</vt:lpwstr>
  </property>
  <property fmtid="{D5CDD505-2E9C-101B-9397-08002B2CF9AE}" pid="9" name="MSIP_Label_84725270-1a60-4239-bd3a-1f77246ba1b1_ContentBits">
    <vt:lpwstr>2</vt:lpwstr>
  </property>
  <property fmtid="{D5CDD505-2E9C-101B-9397-08002B2CF9AE}" pid="10" name="ClassificationContentMarkingFooterLocations">
    <vt:lpwstr>Office Theme:3</vt:lpwstr>
  </property>
  <property fmtid="{D5CDD505-2E9C-101B-9397-08002B2CF9AE}" pid="11" name="ClassificationContentMarkingFooterText">
    <vt:lpwstr>Vanguard Internal Use Only</vt:lpwstr>
  </property>
</Properties>
</file>